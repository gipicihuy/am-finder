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22960" y="731520"/>
            <a:ext cx="4937760" cy="347472"/>
          </a:xfrm>
          <a:prstGeom prst="roundRect">
            <a:avLst>
              <a:gd name="adj" fmla="val 21053"/>
            </a:avLst>
          </a:prstGeom>
          <a:solidFill>
            <a:srgbClr val="1E293B"/>
          </a:solidFill>
          <a:ln w="12700">
            <a:solidFill>
              <a:srgbClr val="334155"/>
            </a:solidFill>
            <a:prstDash val="solid"/>
          </a:ln>
        </p:spPr>
      </p:sp>
      <p:sp>
        <p:nvSpPr>
          <p:cNvPr id="3" name="Text 1"/>
          <p:cNvSpPr/>
          <p:nvPr/>
        </p:nvSpPr>
        <p:spPr>
          <a:xfrm>
            <a:off x="914400" y="768096"/>
            <a:ext cx="4754880" cy="274320"/>
          </a:xfrm>
          <a:prstGeom prst="rect">
            <a:avLst/>
          </a:prstGeom>
          <a:noFill/>
          <a:ln/>
        </p:spPr>
        <p:txBody>
          <a:bodyPr wrap="square" rtlCol="0" anchor="ctr"/>
          <a:lstStyle/>
          <a:p>
            <a:pPr indent="0" marL="0">
              <a:buNone/>
            </a:pPr>
            <a:r>
              <a:rPr lang="en-US" sz="950" b="1" spc="120" kern="0" dirty="0">
                <a:solidFill>
                  <a:srgbClr val="F59E0B"/>
                </a:solidFill>
                <a:latin typeface="Arial" pitchFamily="34" charset="0"/>
                <a:ea typeface="Arial" pitchFamily="34" charset="-122"/>
                <a:cs typeface="Arial" pitchFamily="34" charset="-120"/>
              </a:rPr>
              <a:t>SAINS POPULER / NEUROSAINS KOGNITIF • KELAS IX E</a:t>
            </a:r>
            <a:endParaRPr lang="en-US" sz="950" dirty="0"/>
          </a:p>
        </p:txBody>
      </p:sp>
      <p:sp>
        <p:nvSpPr>
          <p:cNvPr id="4" name="Text 2"/>
          <p:cNvSpPr/>
          <p:nvPr/>
        </p:nvSpPr>
        <p:spPr>
          <a:xfrm>
            <a:off x="822960" y="1325880"/>
            <a:ext cx="6400800" cy="1645920"/>
          </a:xfrm>
          <a:prstGeom prst="rect">
            <a:avLst/>
          </a:prstGeom>
          <a:noFill/>
          <a:ln/>
        </p:spPr>
        <p:txBody>
          <a:bodyPr wrap="square" rtlCol="0" anchor="ctr"/>
          <a:lstStyle/>
          <a:p>
            <a:pPr indent="0" marL="0">
              <a:lnSpc>
                <a:spcPts val="3800"/>
              </a:lnSpc>
              <a:buNone/>
            </a:pPr>
            <a:r>
              <a:rPr lang="en-US" sz="3200" b="1" dirty="0">
                <a:solidFill>
                  <a:srgbClr val="F8FAFC"/>
                </a:solidFill>
                <a:latin typeface="Arial" pitchFamily="34" charset="0"/>
                <a:ea typeface="Arial" pitchFamily="34" charset="-122"/>
                <a:cs typeface="Arial" pitchFamily="34" charset="-120"/>
              </a:rPr>
              <a:t>Fenomena Pareidolia,
</a:t>
            </a:r>
            <a:pPr indent="0" marL="0">
              <a:lnSpc>
                <a:spcPts val="3800"/>
              </a:lnSpc>
              <a:buNone/>
            </a:pPr>
            <a:r>
              <a:rPr lang="en-US" sz="2800" b="1" dirty="0">
                <a:solidFill>
                  <a:srgbClr val="F59E0B"/>
                </a:solidFill>
                <a:latin typeface="Arial" pitchFamily="34" charset="0"/>
                <a:ea typeface="Arial" pitchFamily="34" charset="-122"/>
                <a:cs typeface="Arial" pitchFamily="34" charset="-120"/>
              </a:rPr>
              <a:t>Melihat Wajah atau Sosok pada Benda Mati</a:t>
            </a:r>
            <a:endParaRPr lang="en-US" sz="3200" dirty="0"/>
          </a:p>
        </p:txBody>
      </p:sp>
      <p:sp>
        <p:nvSpPr>
          <p:cNvPr id="5" name="Text 3"/>
          <p:cNvSpPr/>
          <p:nvPr/>
        </p:nvSpPr>
        <p:spPr>
          <a:xfrm>
            <a:off x="822960" y="3063240"/>
            <a:ext cx="6217920" cy="822960"/>
          </a:xfrm>
          <a:prstGeom prst="rect">
            <a:avLst/>
          </a:prstGeom>
          <a:noFill/>
          <a:ln/>
        </p:spPr>
        <p:txBody>
          <a:bodyPr wrap="square" rtlCol="0" anchor="ctr"/>
          <a:lstStyle/>
          <a:p>
            <a:pPr indent="0" marL="0">
              <a:lnSpc>
                <a:spcPts val="1800"/>
              </a:lnSpc>
              <a:buNone/>
            </a:pPr>
            <a:r>
              <a:rPr lang="en-US" sz="1300" dirty="0">
                <a:solidFill>
                  <a:srgbClr val="94A3B8"/>
                </a:solidFill>
                <a:latin typeface="Calibri" pitchFamily="34" charset="0"/>
                <a:ea typeface="Calibri" pitchFamily="34" charset="-122"/>
                <a:cs typeface="Calibri" pitchFamily="34" charset="-120"/>
              </a:rPr>
              <a:t>Eksplorasi ilmiah tentang bagaimana otak manusia secara alami mencari keteraturan, membaca makna, dan mengenali pola wajah pada objek sehari-hari.</a:t>
            </a:r>
            <a:endParaRPr lang="en-US" sz="1300" dirty="0"/>
          </a:p>
        </p:txBody>
      </p:sp>
      <p:sp>
        <p:nvSpPr>
          <p:cNvPr id="6" name="Shape 4"/>
          <p:cNvSpPr/>
          <p:nvPr/>
        </p:nvSpPr>
        <p:spPr>
          <a:xfrm>
            <a:off x="822960" y="4069080"/>
            <a:ext cx="6217920" cy="2011680"/>
          </a:xfrm>
          <a:prstGeom prst="roundRect">
            <a:avLst>
              <a:gd name="adj" fmla="val 5455"/>
            </a:avLst>
          </a:prstGeom>
          <a:solidFill>
            <a:srgbClr val="1E293B"/>
          </a:solidFill>
          <a:ln w="12700">
            <a:solidFill>
              <a:srgbClr val="334155"/>
            </a:solidFill>
            <a:prstDash val="solid"/>
          </a:ln>
        </p:spPr>
      </p:sp>
      <p:sp>
        <p:nvSpPr>
          <p:cNvPr id="7" name="Text 5"/>
          <p:cNvSpPr/>
          <p:nvPr/>
        </p:nvSpPr>
        <p:spPr>
          <a:xfrm>
            <a:off x="1051560" y="4251960"/>
            <a:ext cx="5760720" cy="228600"/>
          </a:xfrm>
          <a:prstGeom prst="rect">
            <a:avLst/>
          </a:prstGeom>
          <a:noFill/>
          <a:ln/>
        </p:spPr>
        <p:txBody>
          <a:bodyPr wrap="square" rtlCol="0" anchor="ctr"/>
          <a:lstStyle/>
          <a:p>
            <a:pPr indent="0" marL="0">
              <a:buNone/>
            </a:pPr>
            <a:r>
              <a:rPr lang="en-US" sz="1000" b="1" spc="150" kern="0" dirty="0">
                <a:solidFill>
                  <a:srgbClr val="F59E0B"/>
                </a:solidFill>
                <a:latin typeface="Arial" pitchFamily="34" charset="0"/>
                <a:ea typeface="Arial" pitchFamily="34" charset="-122"/>
                <a:cs typeface="Arial" pitchFamily="34" charset="-120"/>
              </a:rPr>
              <a:t>IDENTITAS KELOMPOK</a:t>
            </a:r>
            <a:endParaRPr lang="en-US" sz="1000" dirty="0"/>
          </a:p>
        </p:txBody>
      </p:sp>
      <p:sp>
        <p:nvSpPr>
          <p:cNvPr id="8" name="Text 6"/>
          <p:cNvSpPr/>
          <p:nvPr/>
        </p:nvSpPr>
        <p:spPr>
          <a:xfrm>
            <a:off x="1051560" y="4526280"/>
            <a:ext cx="5760720" cy="1371600"/>
          </a:xfrm>
          <a:prstGeom prst="rect">
            <a:avLst/>
          </a:prstGeom>
          <a:noFill/>
          <a:ln/>
        </p:spPr>
        <p:txBody>
          <a:bodyPr wrap="square" rtlCol="0" anchor="ctr"/>
          <a:lstStyle/>
          <a:p>
            <a:pPr indent="0" marL="0">
              <a:lnSpc>
                <a:spcPts val="1800"/>
              </a:lnSpc>
              <a:buNone/>
            </a:pPr>
            <a:r>
              <a:rPr lang="en-US" sz="1100" b="1" dirty="0">
                <a:solidFill>
                  <a:srgbClr val="F8FAFC"/>
                </a:solidFill>
                <a:latin typeface="Calibri" pitchFamily="34" charset="0"/>
                <a:ea typeface="Calibri" pitchFamily="34" charset="-122"/>
                <a:cs typeface="Calibri" pitchFamily="34" charset="-120"/>
              </a:rPr>
              <a:t>Anggota Kelompok:
</a:t>
            </a:r>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 Gani
• Niko
</a:t>
            </a:r>
            <a:pPr indent="0" marL="0">
              <a:lnSpc>
                <a:spcPts val="1800"/>
              </a:lnSpc>
              <a:buNone/>
            </a:pPr>
            <a:r>
              <a:rPr lang="en-US" sz="1100" b="1" dirty="0">
                <a:solidFill>
                  <a:srgbClr val="94A3B8"/>
                </a:solidFill>
                <a:latin typeface="Calibri" pitchFamily="34" charset="0"/>
                <a:ea typeface="Calibri" pitchFamily="34" charset="-122"/>
                <a:cs typeface="Calibri" pitchFamily="34" charset="-120"/>
              </a:rPr>
              <a:t>Kelas: </a:t>
            </a:r>
            <a:pPr indent="0" marL="0">
              <a:lnSpc>
                <a:spcPts val="1800"/>
              </a:lnSpc>
              <a:buNone/>
            </a:pPr>
            <a:r>
              <a:rPr lang="en-US" sz="1200" b="1" dirty="0">
                <a:solidFill>
                  <a:srgbClr val="F8FAFC"/>
                </a:solidFill>
                <a:latin typeface="Calibri" pitchFamily="34" charset="0"/>
                <a:ea typeface="Calibri" pitchFamily="34" charset="-122"/>
                <a:cs typeface="Calibri" pitchFamily="34" charset="-120"/>
              </a:rPr>
              <a:t>IX E      </a:t>
            </a:r>
            <a:pPr indent="0" marL="0">
              <a:lnSpc>
                <a:spcPts val="1800"/>
              </a:lnSpc>
              <a:buNone/>
            </a:pPr>
            <a:r>
              <a:rPr lang="en-US" sz="1100" b="1" dirty="0">
                <a:solidFill>
                  <a:srgbClr val="94A3B8"/>
                </a:solidFill>
                <a:latin typeface="Calibri" pitchFamily="34" charset="0"/>
                <a:ea typeface="Calibri" pitchFamily="34" charset="-122"/>
                <a:cs typeface="Calibri" pitchFamily="34" charset="-120"/>
              </a:rPr>
              <a:t>Sekolah: </a:t>
            </a:r>
            <a:pPr indent="0" marL="0">
              <a:lnSpc>
                <a:spcPts val="1800"/>
              </a:lnSpc>
              <a:buNone/>
            </a:pPr>
            <a:r>
              <a:rPr lang="en-US" sz="1200" b="1" dirty="0">
                <a:solidFill>
                  <a:srgbClr val="F8FAFC"/>
                </a:solidFill>
                <a:latin typeface="Calibri" pitchFamily="34" charset="0"/>
                <a:ea typeface="Calibri" pitchFamily="34" charset="-122"/>
                <a:cs typeface="Calibri" pitchFamily="34" charset="-120"/>
              </a:rPr>
              <a:t>[Nama Sekolah]</a:t>
            </a:r>
            <a:endParaRPr lang="en-US" sz="1100" dirty="0"/>
          </a:p>
        </p:txBody>
      </p:sp>
      <p:sp>
        <p:nvSpPr>
          <p:cNvPr id="9" name="Shape 7"/>
          <p:cNvSpPr/>
          <p:nvPr/>
        </p:nvSpPr>
        <p:spPr>
          <a:xfrm>
            <a:off x="7406640" y="731520"/>
            <a:ext cx="3962095" cy="5349240"/>
          </a:xfrm>
          <a:prstGeom prst="roundRect">
            <a:avLst>
              <a:gd name="adj" fmla="val 3462"/>
            </a:avLst>
          </a:prstGeom>
          <a:solidFill>
            <a:srgbClr val="1E293B"/>
          </a:solidFill>
          <a:ln w="25400">
            <a:solidFill>
              <a:srgbClr val="D97706"/>
            </a:solidFill>
            <a:prstDash val="solid"/>
          </a:ln>
        </p:spPr>
      </p:sp>
      <p:pic>
        <p:nvPicPr>
          <p:cNvPr id="10" name="Image 0" descr="/root/am-finder/pareidolia-presentasi/assets/alodokter-pareidolia.jpg">    </p:cNvPr>
          <p:cNvPicPr>
            <a:picLocks noChangeAspect="1"/>
          </p:cNvPicPr>
          <p:nvPr/>
        </p:nvPicPr>
        <p:blipFill>
          <a:blip r:embed="rId1"/>
          <a:srcRect l="0" r="0" t="0" b="0"/>
          <a:stretch/>
        </p:blipFill>
        <p:spPr>
          <a:xfrm>
            <a:off x="7635240" y="960120"/>
            <a:ext cx="3504895" cy="2606040"/>
          </a:xfrm>
          <a:prstGeom prst="rect">
            <a:avLst/>
          </a:prstGeom>
        </p:spPr>
      </p:pic>
      <p:sp>
        <p:nvSpPr>
          <p:cNvPr id="11" name="Text 8"/>
          <p:cNvSpPr/>
          <p:nvPr/>
        </p:nvSpPr>
        <p:spPr>
          <a:xfrm>
            <a:off x="7635240" y="3703320"/>
            <a:ext cx="3504895" cy="228600"/>
          </a:xfrm>
          <a:prstGeom prst="rect">
            <a:avLst/>
          </a:prstGeom>
          <a:noFill/>
          <a:ln/>
        </p:spPr>
        <p:txBody>
          <a:bodyPr wrap="square" rtlCol="0" anchor="ctr"/>
          <a:lstStyle/>
          <a:p>
            <a:pPr indent="0" marL="0">
              <a:buNone/>
            </a:pPr>
            <a:r>
              <a:rPr lang="en-US" sz="950" b="1" spc="100" kern="0" dirty="0">
                <a:solidFill>
                  <a:srgbClr val="F59E0B"/>
                </a:solidFill>
                <a:latin typeface="Arial" pitchFamily="34" charset="0"/>
                <a:ea typeface="Arial" pitchFamily="34" charset="-122"/>
                <a:cs typeface="Arial" pitchFamily="34" charset="-120"/>
              </a:rPr>
              <a:t>FOKUS VISUAL UTAMA</a:t>
            </a:r>
            <a:endParaRPr lang="en-US" sz="950" dirty="0"/>
          </a:p>
        </p:txBody>
      </p:sp>
      <p:sp>
        <p:nvSpPr>
          <p:cNvPr id="12" name="Text 9"/>
          <p:cNvSpPr/>
          <p:nvPr/>
        </p:nvSpPr>
        <p:spPr>
          <a:xfrm>
            <a:off x="7635240" y="3977640"/>
            <a:ext cx="3504895" cy="3200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Pola Wajah pada Benda Mati</a:t>
            </a:r>
            <a:endParaRPr lang="en-US" sz="1400" dirty="0"/>
          </a:p>
        </p:txBody>
      </p:sp>
      <p:sp>
        <p:nvSpPr>
          <p:cNvPr id="13" name="Text 10"/>
          <p:cNvSpPr/>
          <p:nvPr/>
        </p:nvSpPr>
        <p:spPr>
          <a:xfrm>
            <a:off x="7635240" y="4343400"/>
            <a:ext cx="3504895" cy="1005840"/>
          </a:xfrm>
          <a:prstGeom prst="rect">
            <a:avLst/>
          </a:prstGeom>
          <a:noFill/>
          <a:ln/>
        </p:spPr>
        <p:txBody>
          <a:bodyPr wrap="square" rtlCol="0" anchor="ctr"/>
          <a:lstStyle/>
          <a:p>
            <a:pPr indent="0" marL="0">
              <a:lnSpc>
                <a:spcPts val="1500"/>
              </a:lnSpc>
              <a:buNone/>
            </a:pPr>
            <a:r>
              <a:rPr lang="en-US" sz="1050" dirty="0">
                <a:solidFill>
                  <a:srgbClr val="CBD5E1"/>
                </a:solidFill>
                <a:latin typeface="Calibri" pitchFamily="34" charset="0"/>
                <a:ea typeface="Calibri" pitchFamily="34" charset="-122"/>
                <a:cs typeface="Calibri" pitchFamily="34" charset="-120"/>
              </a:rPr>
              <a:t>Dua titik gelap dan sebuah celah pada permukaan benda mati (buih kopi) langsung diinterpretasikan oleh korteks visual manusia sebagai sepasang mata dan mulut yang bersuara.</a:t>
            </a:r>
            <a:endParaRPr lang="en-US" sz="1050" dirty="0"/>
          </a:p>
        </p:txBody>
      </p:sp>
      <p:sp>
        <p:nvSpPr>
          <p:cNvPr id="14" name="Text 11"/>
          <p:cNvSpPr/>
          <p:nvPr/>
        </p:nvSpPr>
        <p:spPr>
          <a:xfrm>
            <a:off x="7635240" y="5715000"/>
            <a:ext cx="3504895" cy="228600"/>
          </a:xfrm>
          <a:prstGeom prst="rect">
            <a:avLst/>
          </a:prstGeom>
          <a:noFill/>
          <a:ln/>
        </p:spPr>
        <p:txBody>
          <a:bodyPr wrap="square"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Referensi: Alodokter (2023) • Lisensi Edukasi</a:t>
            </a:r>
            <a:endParaRPr lang="en-US" sz="850" dirty="0"/>
          </a:p>
        </p:txBody>
      </p:sp>
      <p:sp>
        <p:nvSpPr>
          <p:cNvPr id="15" name="Shape 12"/>
          <p:cNvSpPr/>
          <p:nvPr/>
        </p:nvSpPr>
        <p:spPr>
          <a:xfrm>
            <a:off x="822960" y="6400800"/>
            <a:ext cx="10545775" cy="0"/>
          </a:xfrm>
          <a:prstGeom prst="line">
            <a:avLst/>
          </a:prstGeom>
          <a:noFill/>
          <a:ln w="12700">
            <a:solidFill>
              <a:srgbClr val="334155"/>
            </a:solidFill>
            <a:prstDash val="solid"/>
          </a:ln>
        </p:spPr>
      </p:sp>
      <p:sp>
        <p:nvSpPr>
          <p:cNvPr id="16" name="Text 13"/>
          <p:cNvSpPr/>
          <p:nvPr/>
        </p:nvSpPr>
        <p:spPr>
          <a:xfrm>
            <a:off x="822960" y="6446520"/>
            <a:ext cx="8229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Fenomena Pareidolia • Tugas Presentasi Kelompok Kelas IX E • [Nama Sekolah]</a:t>
            </a:r>
            <a:endParaRPr lang="en-US" sz="900" dirty="0"/>
          </a:p>
        </p:txBody>
      </p:sp>
      <p:sp>
        <p:nvSpPr>
          <p:cNvPr id="17" name="Text 14"/>
          <p:cNvSpPr/>
          <p:nvPr/>
        </p:nvSpPr>
        <p:spPr>
          <a:xfrm>
            <a:off x="9601200" y="6446520"/>
            <a:ext cx="1767535"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22960" y="502920"/>
            <a:ext cx="10515600" cy="256032"/>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PENDAHULUAN • OBSERVASI AWAL</a:t>
            </a:r>
            <a:endParaRPr lang="en-US" sz="1000" dirty="0"/>
          </a:p>
        </p:txBody>
      </p:sp>
      <p:sp>
        <p:nvSpPr>
          <p:cNvPr id="3" name="Text 1"/>
          <p:cNvSpPr/>
          <p:nvPr/>
        </p:nvSpPr>
        <p:spPr>
          <a:xfrm>
            <a:off x="822960" y="77724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Pernahkah Kamu Merasa Sedang "Ditatap" oleh Benda Mati?</a:t>
            </a:r>
            <a:endParaRPr lang="en-US" sz="2400" dirty="0"/>
          </a:p>
        </p:txBody>
      </p:sp>
      <p:sp>
        <p:nvSpPr>
          <p:cNvPr id="4" name="Text 2"/>
          <p:cNvSpPr/>
          <p:nvPr/>
        </p:nvSpPr>
        <p:spPr>
          <a:xfrm>
            <a:off x="822960" y="1389888"/>
            <a:ext cx="10515600" cy="32004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Dari stopkontak di dinding kamar hingga bemper mobil di jalan raya, kita kerap melihat ekspresi pada benda yang tidak bernyawa.</a:t>
            </a:r>
            <a:endParaRPr lang="en-US" sz="1200" dirty="0"/>
          </a:p>
        </p:txBody>
      </p:sp>
      <p:sp>
        <p:nvSpPr>
          <p:cNvPr id="5" name="Shape 3"/>
          <p:cNvSpPr/>
          <p:nvPr/>
        </p:nvSpPr>
        <p:spPr>
          <a:xfrm>
            <a:off x="822960" y="1920240"/>
            <a:ext cx="5166360" cy="3520440"/>
          </a:xfrm>
          <a:prstGeom prst="roundRect">
            <a:avLst>
              <a:gd name="adj" fmla="val 3117"/>
            </a:avLst>
          </a:prstGeom>
          <a:solidFill>
            <a:srgbClr val="FFFFFF"/>
          </a:solidFill>
          <a:ln w="12700">
            <a:solidFill>
              <a:srgbClr val="E2E8F0"/>
            </a:solidFill>
            <a:prstDash val="solid"/>
          </a:ln>
        </p:spPr>
      </p:sp>
      <p:pic>
        <p:nvPicPr>
          <p:cNvPr id="6" name="Image 0" descr="/root/am-finder/pareidolia-presentasi/assets/socket-pareidolia.jpg">    </p:cNvPr>
          <p:cNvPicPr>
            <a:picLocks noChangeAspect="1"/>
          </p:cNvPicPr>
          <p:nvPr/>
        </p:nvPicPr>
        <p:blipFill>
          <a:blip r:embed="rId1"/>
          <a:srcRect l="0" r="0" t="0" b="0"/>
          <a:stretch/>
        </p:blipFill>
        <p:spPr>
          <a:xfrm>
            <a:off x="1051560" y="2057400"/>
            <a:ext cx="4709160" cy="2057400"/>
          </a:xfrm>
          <a:prstGeom prst="rect">
            <a:avLst/>
          </a:prstGeom>
        </p:spPr>
      </p:pic>
      <p:sp>
        <p:nvSpPr>
          <p:cNvPr id="7" name="Text 4"/>
          <p:cNvSpPr/>
          <p:nvPr/>
        </p:nvSpPr>
        <p:spPr>
          <a:xfrm>
            <a:off x="1051560" y="4206240"/>
            <a:ext cx="470916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Stopkontak Dinding yang "Tersenyum"</a:t>
            </a:r>
            <a:endParaRPr lang="en-US" sz="1400" dirty="0"/>
          </a:p>
        </p:txBody>
      </p:sp>
      <p:sp>
        <p:nvSpPr>
          <p:cNvPr id="8" name="Text 5"/>
          <p:cNvSpPr/>
          <p:nvPr/>
        </p:nvSpPr>
        <p:spPr>
          <a:xfrm>
            <a:off x="1051560" y="4526280"/>
            <a:ext cx="4709160" cy="777240"/>
          </a:xfrm>
          <a:prstGeom prst="rect">
            <a:avLst/>
          </a:prstGeom>
          <a:noFill/>
          <a:ln/>
        </p:spPr>
        <p:txBody>
          <a:bodyPr wrap="square" rtlCol="0" anchor="ctr"/>
          <a:lstStyle/>
          <a:p>
            <a:pPr indent="0" marL="0">
              <a:lnSpc>
                <a:spcPts val="1400"/>
              </a:lnSpc>
              <a:buNone/>
            </a:pPr>
            <a:r>
              <a:rPr lang="en-US" sz="1050" dirty="0">
                <a:solidFill>
                  <a:srgbClr val="475569"/>
                </a:solidFill>
                <a:latin typeface="Calibri" pitchFamily="34" charset="0"/>
                <a:ea typeface="Calibri" pitchFamily="34" charset="-122"/>
                <a:cs typeface="Calibri" pitchFamily="34" charset="-120"/>
              </a:rPr>
              <a:t>Dua lubang pin dan celah lengkungan grounding arde secara spontan dibaca oleh mata sebagai sepasang mata dan mulut ceria. Benda ini sama sekali tidak bernyawa, namun otak langsung merangkainya menjadi wajah.</a:t>
            </a:r>
            <a:endParaRPr lang="en-US" sz="1050" dirty="0"/>
          </a:p>
        </p:txBody>
      </p:sp>
      <p:sp>
        <p:nvSpPr>
          <p:cNvPr id="9" name="Shape 6"/>
          <p:cNvSpPr/>
          <p:nvPr/>
        </p:nvSpPr>
        <p:spPr>
          <a:xfrm>
            <a:off x="6202375" y="1920240"/>
            <a:ext cx="5166360" cy="3520440"/>
          </a:xfrm>
          <a:prstGeom prst="roundRect">
            <a:avLst>
              <a:gd name="adj" fmla="val 3117"/>
            </a:avLst>
          </a:prstGeom>
          <a:solidFill>
            <a:srgbClr val="FFFFFF"/>
          </a:solidFill>
          <a:ln w="12700">
            <a:solidFill>
              <a:srgbClr val="E2E8F0"/>
            </a:solidFill>
            <a:prstDash val="solid"/>
          </a:ln>
        </p:spPr>
      </p:sp>
      <p:pic>
        <p:nvPicPr>
          <p:cNvPr id="10" name="Image 1" descr="/root/am-finder/pareidolia-presentasi/assets/car-pareidolia.jpg">    </p:cNvPr>
          <p:cNvPicPr>
            <a:picLocks noChangeAspect="1"/>
          </p:cNvPicPr>
          <p:nvPr/>
        </p:nvPicPr>
        <p:blipFill>
          <a:blip r:embed="rId2"/>
          <a:srcRect l="0" r="0" t="0" b="0"/>
          <a:stretch/>
        </p:blipFill>
        <p:spPr>
          <a:xfrm>
            <a:off x="6430975" y="2057400"/>
            <a:ext cx="4709160" cy="2057400"/>
          </a:xfrm>
          <a:prstGeom prst="rect">
            <a:avLst/>
          </a:prstGeom>
        </p:spPr>
      </p:pic>
      <p:sp>
        <p:nvSpPr>
          <p:cNvPr id="11" name="Text 7"/>
          <p:cNvSpPr/>
          <p:nvPr/>
        </p:nvSpPr>
        <p:spPr>
          <a:xfrm>
            <a:off x="6430975" y="4206240"/>
            <a:ext cx="470916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Fasia Depan Mobil dengan "Ekspresi Ramah"</a:t>
            </a:r>
            <a:endParaRPr lang="en-US" sz="1400" dirty="0"/>
          </a:p>
        </p:txBody>
      </p:sp>
      <p:sp>
        <p:nvSpPr>
          <p:cNvPr id="12" name="Text 8"/>
          <p:cNvSpPr/>
          <p:nvPr/>
        </p:nvSpPr>
        <p:spPr>
          <a:xfrm>
            <a:off x="6430975" y="4526280"/>
            <a:ext cx="4709160" cy="777240"/>
          </a:xfrm>
          <a:prstGeom prst="rect">
            <a:avLst/>
          </a:prstGeom>
          <a:noFill/>
          <a:ln/>
        </p:spPr>
        <p:txBody>
          <a:bodyPr wrap="square" rtlCol="0" anchor="ctr"/>
          <a:lstStyle/>
          <a:p>
            <a:pPr indent="0" marL="0">
              <a:lnSpc>
                <a:spcPts val="1400"/>
              </a:lnSpc>
              <a:buNone/>
            </a:pPr>
            <a:r>
              <a:rPr lang="en-US" sz="1050" dirty="0">
                <a:solidFill>
                  <a:srgbClr val="475569"/>
                </a:solidFill>
                <a:latin typeface="Calibri" pitchFamily="34" charset="0"/>
                <a:ea typeface="Calibri" pitchFamily="34" charset="-122"/>
                <a:cs typeface="Calibri" pitchFamily="34" charset="-120"/>
              </a:rPr>
              <a:t>Dua lampu bundar sebagai "mata" dan kisi-kisi radiator sebagai "mulut tersenyum". Desainer industri bahkan sengaja memanfaatkan kepekaan visual ini untuk memberikan karakter ramah atau tangguh pada kendaraan.</a:t>
            </a:r>
            <a:endParaRPr lang="en-US" sz="1050" dirty="0"/>
          </a:p>
        </p:txBody>
      </p:sp>
      <p:sp>
        <p:nvSpPr>
          <p:cNvPr id="13" name="Shape 9"/>
          <p:cNvSpPr/>
          <p:nvPr/>
        </p:nvSpPr>
        <p:spPr>
          <a:xfrm>
            <a:off x="822960" y="5577840"/>
            <a:ext cx="10545775" cy="594360"/>
          </a:xfrm>
          <a:prstGeom prst="roundRect">
            <a:avLst>
              <a:gd name="adj" fmla="val 12308"/>
            </a:avLst>
          </a:prstGeom>
          <a:solidFill>
            <a:srgbClr val="FEF3C7"/>
          </a:solidFill>
          <a:ln w="12700">
            <a:solidFill>
              <a:srgbClr val="F59E0B"/>
            </a:solidFill>
            <a:prstDash val="solid"/>
          </a:ln>
        </p:spPr>
      </p:sp>
      <p:sp>
        <p:nvSpPr>
          <p:cNvPr id="14" name="Text 10"/>
          <p:cNvSpPr/>
          <p:nvPr/>
        </p:nvSpPr>
        <p:spPr>
          <a:xfrm>
            <a:off x="1051560" y="5687568"/>
            <a:ext cx="10058400" cy="384048"/>
          </a:xfrm>
          <a:prstGeom prst="rect">
            <a:avLst/>
          </a:prstGeom>
          <a:noFill/>
          <a:ln/>
        </p:spPr>
        <p:txBody>
          <a:bodyPr wrap="square" rtlCol="0" anchor="ctr"/>
          <a:lstStyle/>
          <a:p>
            <a:pPr indent="0" marL="0">
              <a:lnSpc>
                <a:spcPts val="1500"/>
              </a:lnSpc>
              <a:buNone/>
            </a:pPr>
            <a:r>
              <a:rPr lang="en-US" sz="1100" b="1" dirty="0">
                <a:solidFill>
                  <a:srgbClr val="EA580C"/>
                </a:solidFill>
                <a:latin typeface="Calibri" pitchFamily="34" charset="0"/>
                <a:ea typeface="Calibri" pitchFamily="34" charset="-122"/>
                <a:cs typeface="Calibri" pitchFamily="34" charset="-120"/>
              </a:rPr>
              <a:t>INTISARI OBSERVASI: </a:t>
            </a:r>
            <a:pPr indent="0" marL="0">
              <a:lnSpc>
                <a:spcPts val="1500"/>
              </a:lnSpc>
              <a:buNone/>
            </a:pPr>
            <a:r>
              <a:rPr lang="en-US" sz="1100" dirty="0">
                <a:solidFill>
                  <a:srgbClr val="92400E"/>
                </a:solidFill>
                <a:latin typeface="Calibri" pitchFamily="34" charset="0"/>
                <a:ea typeface="Calibri" pitchFamily="34" charset="-122"/>
                <a:cs typeface="Calibri" pitchFamily="34" charset="-120"/>
              </a:rPr>
              <a:t>Pengalaman melihat wajah pada benda mati ini bukan kebetulan aneh atau halusinasi, melainkan cerminan cara kerja normal sistem penglihatan manusia yang sangat responsif terhadap pola wajah.</a:t>
            </a:r>
            <a:endParaRPr lang="en-US" sz="1100" dirty="0"/>
          </a:p>
        </p:txBody>
      </p:sp>
      <p:sp>
        <p:nvSpPr>
          <p:cNvPr id="15" name="Shape 11"/>
          <p:cNvSpPr/>
          <p:nvPr/>
        </p:nvSpPr>
        <p:spPr>
          <a:xfrm>
            <a:off x="822960" y="6400800"/>
            <a:ext cx="10545775" cy="0"/>
          </a:xfrm>
          <a:prstGeom prst="line">
            <a:avLst/>
          </a:prstGeom>
          <a:noFill/>
          <a:ln w="12700">
            <a:solidFill>
              <a:srgbClr val="E2E8F0"/>
            </a:solidFill>
            <a:prstDash val="solid"/>
          </a:ln>
        </p:spPr>
      </p:sp>
      <p:sp>
        <p:nvSpPr>
          <p:cNvPr id="16" name="Text 12"/>
          <p:cNvSpPr/>
          <p:nvPr/>
        </p:nvSpPr>
        <p:spPr>
          <a:xfrm>
            <a:off x="822960" y="6446520"/>
            <a:ext cx="82296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Fenomena Pareidolia • Tugas Presentasi Kelompok Kelas IX E • [Nama Sekolah]</a:t>
            </a:r>
            <a:endParaRPr lang="en-US" sz="900" dirty="0"/>
          </a:p>
        </p:txBody>
      </p:sp>
      <p:sp>
        <p:nvSpPr>
          <p:cNvPr id="17" name="Text 13"/>
          <p:cNvSpPr/>
          <p:nvPr/>
        </p:nvSpPr>
        <p:spPr>
          <a:xfrm>
            <a:off x="9601200" y="6446520"/>
            <a:ext cx="1767535" cy="274320"/>
          </a:xfrm>
          <a:prstGeom prst="rect">
            <a:avLst/>
          </a:prstGeom>
          <a:noFill/>
          <a:ln/>
        </p:spPr>
        <p:txBody>
          <a:bodyPr wrap="square" rtlCol="0" anchor="ctr"/>
          <a:lstStyle/>
          <a:p>
            <a:pPr algn="r" indent="0" marL="0">
              <a:buNone/>
            </a:pPr>
            <a:r>
              <a:rPr lang="en-US" sz="900" b="1" dirty="0">
                <a:solidFill>
                  <a:srgbClr val="D97706"/>
                </a:solidFill>
                <a:latin typeface="Arial" pitchFamily="34" charset="0"/>
                <a:ea typeface="Arial" pitchFamily="34" charset="-122"/>
                <a:cs typeface="Arial" pitchFamily="34" charset="-120"/>
              </a:rPr>
              <a:t>Slide 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22960" y="502920"/>
            <a:ext cx="10515600" cy="256032"/>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KONSEP DASAR • DEFINISI ILMIAH</a:t>
            </a:r>
            <a:endParaRPr lang="en-US" sz="1000" dirty="0"/>
          </a:p>
        </p:txBody>
      </p:sp>
      <p:sp>
        <p:nvSpPr>
          <p:cNvPr id="3" name="Text 1"/>
          <p:cNvSpPr/>
          <p:nvPr/>
        </p:nvSpPr>
        <p:spPr>
          <a:xfrm>
            <a:off x="822960" y="77724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Mengenal Pareidolia: Definisi dan Karakteristiknya</a:t>
            </a:r>
            <a:endParaRPr lang="en-US" sz="2400" dirty="0"/>
          </a:p>
        </p:txBody>
      </p:sp>
      <p:sp>
        <p:nvSpPr>
          <p:cNvPr id="4" name="Text 2"/>
          <p:cNvSpPr/>
          <p:nvPr/>
        </p:nvSpPr>
        <p:spPr>
          <a:xfrm>
            <a:off x="822960" y="1389888"/>
            <a:ext cx="10515600" cy="32004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Sebuah fenomena psikologis normal ketika pikiran menafsirkan stimulus acak menjadi bentuk bermakna.</a:t>
            </a:r>
            <a:endParaRPr lang="en-US" sz="1200" dirty="0"/>
          </a:p>
        </p:txBody>
      </p:sp>
      <p:sp>
        <p:nvSpPr>
          <p:cNvPr id="5" name="Shape 3"/>
          <p:cNvSpPr/>
          <p:nvPr/>
        </p:nvSpPr>
        <p:spPr>
          <a:xfrm>
            <a:off x="822960" y="1920240"/>
            <a:ext cx="6675120" cy="1051560"/>
          </a:xfrm>
          <a:prstGeom prst="roundRect">
            <a:avLst>
              <a:gd name="adj" fmla="val 8696"/>
            </a:avLst>
          </a:prstGeom>
          <a:solidFill>
            <a:srgbClr val="FFFFFF"/>
          </a:solidFill>
          <a:ln w="12700">
            <a:solidFill>
              <a:srgbClr val="E2E8F0"/>
            </a:solidFill>
            <a:prstDash val="solid"/>
          </a:ln>
        </p:spPr>
      </p:sp>
      <p:sp>
        <p:nvSpPr>
          <p:cNvPr id="6" name="Text 4"/>
          <p:cNvSpPr/>
          <p:nvPr/>
        </p:nvSpPr>
        <p:spPr>
          <a:xfrm>
            <a:off x="1051560" y="2057400"/>
            <a:ext cx="6217920" cy="228600"/>
          </a:xfrm>
          <a:prstGeom prst="rect">
            <a:avLst/>
          </a:prstGeom>
          <a:noFill/>
          <a:ln/>
        </p:spPr>
        <p:txBody>
          <a:bodyPr wrap="square" rtlCol="0" anchor="ctr"/>
          <a:lstStyle/>
          <a:p>
            <a:pPr indent="0" marL="0">
              <a:buNone/>
            </a:pPr>
            <a:r>
              <a:rPr lang="en-US" sz="1000" b="1" spc="120" kern="0" dirty="0">
                <a:solidFill>
                  <a:srgbClr val="D97706"/>
                </a:solidFill>
                <a:latin typeface="Arial" pitchFamily="34" charset="0"/>
                <a:ea typeface="Arial" pitchFamily="34" charset="-122"/>
                <a:cs typeface="Arial" pitchFamily="34" charset="-120"/>
              </a:rPr>
              <a:t>ASAL USUL KATA (ETIMOLOGI)</a:t>
            </a:r>
            <a:endParaRPr lang="en-US" sz="1000" dirty="0"/>
          </a:p>
        </p:txBody>
      </p:sp>
      <p:sp>
        <p:nvSpPr>
          <p:cNvPr id="7" name="Text 5"/>
          <p:cNvSpPr/>
          <p:nvPr/>
        </p:nvSpPr>
        <p:spPr>
          <a:xfrm>
            <a:off x="1051560" y="2331720"/>
            <a:ext cx="6217920" cy="502920"/>
          </a:xfrm>
          <a:prstGeom prst="rect">
            <a:avLst/>
          </a:prstGeom>
          <a:noFill/>
          <a:ln/>
        </p:spPr>
        <p:txBody>
          <a:bodyPr wrap="square" rtlCol="0" anchor="ctr"/>
          <a:lstStyle/>
          <a:p>
            <a:pPr indent="0" marL="0">
              <a:lnSpc>
                <a:spcPts val="1500"/>
              </a:lnSpc>
              <a:buNone/>
            </a:pPr>
            <a:r>
              <a:rPr lang="en-US" sz="1100" dirty="0">
                <a:solidFill>
                  <a:srgbClr val="0F172A"/>
                </a:solidFill>
                <a:latin typeface="Calibri" pitchFamily="34" charset="0"/>
                <a:ea typeface="Calibri" pitchFamily="34" charset="-122"/>
                <a:cs typeface="Calibri" pitchFamily="34" charset="-120"/>
              </a:rPr>
              <a:t>Berasal dari bahasa Yunani Kuno: "para" (παρά = keliru, menyimpang, di samping) dan "eidōlon" (εἴδωλον = bentuk, rupa, atau gambar). Secara harfiah bermakna "persepsi rupa yang keliru atau salah menafsirkan wujud".</a:t>
            </a:r>
            <a:endParaRPr lang="en-US" sz="1100" dirty="0"/>
          </a:p>
        </p:txBody>
      </p:sp>
      <p:sp>
        <p:nvSpPr>
          <p:cNvPr id="8" name="Shape 6"/>
          <p:cNvSpPr/>
          <p:nvPr/>
        </p:nvSpPr>
        <p:spPr>
          <a:xfrm>
            <a:off x="822960" y="3154680"/>
            <a:ext cx="6675120" cy="3017520"/>
          </a:xfrm>
          <a:prstGeom prst="roundRect">
            <a:avLst>
              <a:gd name="adj" fmla="val 3030"/>
            </a:avLst>
          </a:prstGeom>
          <a:solidFill>
            <a:srgbClr val="FFFFFF"/>
          </a:solidFill>
          <a:ln w="12700">
            <a:solidFill>
              <a:srgbClr val="E2E8F0"/>
            </a:solidFill>
            <a:prstDash val="solid"/>
          </a:ln>
        </p:spPr>
      </p:sp>
      <p:sp>
        <p:nvSpPr>
          <p:cNvPr id="9" name="Text 7"/>
          <p:cNvSpPr/>
          <p:nvPr/>
        </p:nvSpPr>
        <p:spPr>
          <a:xfrm>
            <a:off x="1051560" y="3337560"/>
            <a:ext cx="6217920" cy="228600"/>
          </a:xfrm>
          <a:prstGeom prst="rect">
            <a:avLst/>
          </a:prstGeom>
          <a:noFill/>
          <a:ln/>
        </p:spPr>
        <p:txBody>
          <a:bodyPr wrap="square" rtlCol="0" anchor="ctr"/>
          <a:lstStyle/>
          <a:p>
            <a:pPr indent="0" marL="0">
              <a:buNone/>
            </a:pPr>
            <a:r>
              <a:rPr lang="en-US" sz="1000" b="1" spc="120" kern="0" dirty="0">
                <a:solidFill>
                  <a:srgbClr val="0D9488"/>
                </a:solidFill>
                <a:latin typeface="Arial" pitchFamily="34" charset="0"/>
                <a:ea typeface="Arial" pitchFamily="34" charset="-122"/>
                <a:cs typeface="Arial" pitchFamily="34" charset="-120"/>
              </a:rPr>
              <a:t>PENGERTIAN LENGKAP</a:t>
            </a:r>
            <a:endParaRPr lang="en-US" sz="1000" dirty="0"/>
          </a:p>
        </p:txBody>
      </p:sp>
      <p:sp>
        <p:nvSpPr>
          <p:cNvPr id="10" name="Text 8"/>
          <p:cNvSpPr/>
          <p:nvPr/>
        </p:nvSpPr>
        <p:spPr>
          <a:xfrm>
            <a:off x="1051560" y="3611880"/>
            <a:ext cx="6217920" cy="731520"/>
          </a:xfrm>
          <a:prstGeom prst="rect">
            <a:avLst/>
          </a:prstGeom>
          <a:noFill/>
          <a:ln/>
        </p:spPr>
        <p:txBody>
          <a:bodyPr wrap="square" rtlCol="0" anchor="ctr"/>
          <a:lstStyle/>
          <a:p>
            <a:pPr indent="0" marL="0">
              <a:lnSpc>
                <a:spcPts val="1700"/>
              </a:lnSpc>
              <a:buNone/>
            </a:pPr>
            <a:r>
              <a:rPr lang="en-US" sz="1200" b="1" dirty="0">
                <a:solidFill>
                  <a:srgbClr val="0F172A"/>
                </a:solidFill>
                <a:latin typeface="Arial" pitchFamily="34" charset="0"/>
                <a:ea typeface="Arial" pitchFamily="34" charset="-122"/>
                <a:cs typeface="Arial" pitchFamily="34" charset="-120"/>
              </a:rPr>
              <a:t>Pareidolia adalah kecenderungan manusia mengenali pola yang familiar—terutama bentuk wajah atau sosok hidup—pada objek, pola, atau rangsangan visual acak yang sebenarnya tidak menggambarkan bentuk tersebut secara sengaja.</a:t>
            </a:r>
            <a:endParaRPr lang="en-US" sz="1200" dirty="0"/>
          </a:p>
        </p:txBody>
      </p:sp>
      <p:sp>
        <p:nvSpPr>
          <p:cNvPr id="11" name="Text 9"/>
          <p:cNvSpPr/>
          <p:nvPr/>
        </p:nvSpPr>
        <p:spPr>
          <a:xfrm>
            <a:off x="1051560" y="4434840"/>
            <a:ext cx="6217920" cy="1554480"/>
          </a:xfrm>
          <a:prstGeom prst="rect">
            <a:avLst/>
          </a:prstGeom>
          <a:noFill/>
          <a:ln/>
        </p:spPr>
        <p:txBody>
          <a:bodyPr wrap="square" rtlCol="0" anchor="ctr"/>
          <a:lstStyle/>
          <a:p>
            <a:pPr indent="0" marL="0">
              <a:lnSpc>
                <a:spcPts val="1400"/>
              </a:lnSpc>
              <a:buNone/>
            </a:pPr>
            <a:r>
              <a:rPr lang="en-US" sz="1050" b="1" dirty="0">
                <a:solidFill>
                  <a:srgbClr val="D97706"/>
                </a:solidFill>
                <a:latin typeface="Calibri" pitchFamily="34" charset="0"/>
                <a:ea typeface="Calibri" pitchFamily="34" charset="-122"/>
                <a:cs typeface="Calibri" pitchFamily="34" charset="-120"/>
              </a:rPr>
              <a:t>1. Bukan Halusinasi Klinis: </a:t>
            </a:r>
            <a:pPr indent="0" marL="0">
              <a:lnSpc>
                <a:spcPts val="1400"/>
              </a:lnSpc>
              <a:buNone/>
            </a:pPr>
            <a:r>
              <a:rPr lang="en-US" sz="1050" dirty="0">
                <a:solidFill>
                  <a:srgbClr val="475569"/>
                </a:solidFill>
                <a:latin typeface="Calibri" pitchFamily="34" charset="0"/>
                <a:ea typeface="Calibri" pitchFamily="34" charset="-122"/>
                <a:cs typeface="Calibri" pitchFamily="34" charset="-120"/>
              </a:rPr>
              <a:t>Seseorang yang mengalami pareidolia sadar penuh bahwa objek tersebut hanyalah benda mati nyata (seperti kayu atau stopkontak), bukan makhluk mistis atau hidup.
</a:t>
            </a:r>
            <a:pPr indent="0" marL="0">
              <a:lnSpc>
                <a:spcPts val="1400"/>
              </a:lnSpc>
              <a:buNone/>
            </a:pPr>
            <a:r>
              <a:rPr lang="en-US" sz="1050" b="1" dirty="0">
                <a:solidFill>
                  <a:srgbClr val="0D9488"/>
                </a:solidFill>
                <a:latin typeface="Calibri" pitchFamily="34" charset="0"/>
                <a:ea typeface="Calibri" pitchFamily="34" charset="-122"/>
                <a:cs typeface="Calibri" pitchFamily="34" charset="-120"/>
              </a:rPr>
              <a:t>2. Ilusi Perseptual Normal: </a:t>
            </a:r>
            <a:pPr indent="0" marL="0">
              <a:lnSpc>
                <a:spcPts val="1400"/>
              </a:lnSpc>
              <a:buNone/>
            </a:pPr>
            <a:r>
              <a:rPr lang="en-US" sz="1050" dirty="0">
                <a:solidFill>
                  <a:srgbClr val="475569"/>
                </a:solidFill>
                <a:latin typeface="Calibri" pitchFamily="34" charset="0"/>
                <a:ea typeface="Calibri" pitchFamily="34" charset="-122"/>
                <a:cs typeface="Calibri" pitchFamily="34" charset="-120"/>
              </a:rPr>
              <a:t>Bukan penyakit kejiwaan, melainkan hasil sampingan alami dari kecanggihan otak dalam memproses wajah dengan sangat peka.
</a:t>
            </a:r>
            <a:pPr indent="0" marL="0">
              <a:lnSpc>
                <a:spcPts val="1400"/>
              </a:lnSpc>
              <a:buNone/>
            </a:pPr>
            <a:r>
              <a:rPr lang="en-US" sz="1050" b="1" dirty="0">
                <a:solidFill>
                  <a:srgbClr val="2563EB"/>
                </a:solidFill>
                <a:latin typeface="Calibri" pitchFamily="34" charset="0"/>
                <a:ea typeface="Calibri" pitchFamily="34" charset="-122"/>
                <a:cs typeface="Calibri" pitchFamily="34" charset="-120"/>
              </a:rPr>
              <a:t>3. Respon Spontan Otomatis: </a:t>
            </a:r>
            <a:pPr indent="0" marL="0">
              <a:lnSpc>
                <a:spcPts val="1400"/>
              </a:lnSpc>
              <a:buNone/>
            </a:pPr>
            <a:r>
              <a:rPr lang="en-US" sz="1050" dirty="0">
                <a:solidFill>
                  <a:srgbClr val="475569"/>
                </a:solidFill>
                <a:latin typeface="Calibri" pitchFamily="34" charset="0"/>
                <a:ea typeface="Calibri" pitchFamily="34" charset="-122"/>
                <a:cs typeface="Calibri" pitchFamily="34" charset="-120"/>
              </a:rPr>
              <a:t>Pengenalan pola ini terjadi dalam hitungan milidetik sebelum kesadaran logis sempat berpikir.</a:t>
            </a:r>
            <a:endParaRPr lang="en-US" sz="1050" dirty="0"/>
          </a:p>
        </p:txBody>
      </p:sp>
      <p:sp>
        <p:nvSpPr>
          <p:cNvPr id="12" name="Shape 10"/>
          <p:cNvSpPr/>
          <p:nvPr/>
        </p:nvSpPr>
        <p:spPr>
          <a:xfrm>
            <a:off x="7680960" y="1920240"/>
            <a:ext cx="3687775" cy="4251960"/>
          </a:xfrm>
          <a:prstGeom prst="roundRect">
            <a:avLst>
              <a:gd name="adj" fmla="val 2480"/>
            </a:avLst>
          </a:prstGeom>
          <a:solidFill>
            <a:srgbClr val="FFFFFF"/>
          </a:solidFill>
          <a:ln w="12700">
            <a:solidFill>
              <a:srgbClr val="E2E8F0"/>
            </a:solidFill>
            <a:prstDash val="solid"/>
          </a:ln>
        </p:spPr>
      </p:sp>
      <p:pic>
        <p:nvPicPr>
          <p:cNvPr id="13" name="Image 0" descr="/root/am-finder/pareidolia-presentasi/assets/wood-pareidolia.jpg">    </p:cNvPr>
          <p:cNvPicPr>
            <a:picLocks noChangeAspect="1"/>
          </p:cNvPicPr>
          <p:nvPr/>
        </p:nvPicPr>
        <p:blipFill>
          <a:blip r:embed="rId1"/>
          <a:srcRect l="0" r="0" t="0" b="0"/>
          <a:stretch/>
        </p:blipFill>
        <p:spPr>
          <a:xfrm>
            <a:off x="7909560" y="2103120"/>
            <a:ext cx="3230575" cy="2286000"/>
          </a:xfrm>
          <a:prstGeom prst="rect">
            <a:avLst/>
          </a:prstGeom>
        </p:spPr>
      </p:pic>
      <p:sp>
        <p:nvSpPr>
          <p:cNvPr id="14" name="Text 11"/>
          <p:cNvSpPr/>
          <p:nvPr/>
        </p:nvSpPr>
        <p:spPr>
          <a:xfrm>
            <a:off x="7909560" y="4526280"/>
            <a:ext cx="3230575"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Pola Serat Kayu Alami</a:t>
            </a:r>
            <a:endParaRPr lang="en-US" sz="1300" dirty="0"/>
          </a:p>
        </p:txBody>
      </p:sp>
      <p:sp>
        <p:nvSpPr>
          <p:cNvPr id="15" name="Text 12"/>
          <p:cNvSpPr/>
          <p:nvPr/>
        </p:nvSpPr>
        <p:spPr>
          <a:xfrm>
            <a:off x="7909560" y="4846320"/>
            <a:ext cx="3230575" cy="777240"/>
          </a:xfrm>
          <a:prstGeom prst="rect">
            <a:avLst/>
          </a:prstGeom>
          <a:noFill/>
          <a:ln/>
        </p:spPr>
        <p:txBody>
          <a:bodyPr wrap="square" rtlCol="0" anchor="ctr"/>
          <a:lstStyle/>
          <a:p>
            <a:pPr indent="0" marL="0">
              <a:lnSpc>
                <a:spcPts val="1400"/>
              </a:lnSpc>
              <a:buNone/>
            </a:pPr>
            <a:r>
              <a:rPr lang="en-US" sz="1050" dirty="0">
                <a:solidFill>
                  <a:srgbClr val="475569"/>
                </a:solidFill>
                <a:latin typeface="Calibri" pitchFamily="34" charset="0"/>
                <a:ea typeface="Calibri" pitchFamily="34" charset="-122"/>
                <a:cs typeface="Calibri" pitchFamily="34" charset="-120"/>
              </a:rPr>
              <a:t>Mata kita langsung mengenali kontur wajah pada permukaan kayu ini. Meskipun kita tahu itu 100% serat mati, otak tetap "melihat" mata dan hidung.</a:t>
            </a:r>
            <a:endParaRPr lang="en-US" sz="1050" dirty="0"/>
          </a:p>
        </p:txBody>
      </p:sp>
      <p:sp>
        <p:nvSpPr>
          <p:cNvPr id="16" name="Text 13"/>
          <p:cNvSpPr/>
          <p:nvPr/>
        </p:nvSpPr>
        <p:spPr>
          <a:xfrm>
            <a:off x="7909560" y="5760720"/>
            <a:ext cx="3230575" cy="228600"/>
          </a:xfrm>
          <a:prstGeom prst="rect">
            <a:avLst/>
          </a:prstGeom>
          <a:noFill/>
          <a:ln/>
        </p:spPr>
        <p:txBody>
          <a:bodyPr wrap="square" rtlCol="0" anchor="ctr"/>
          <a:lstStyle/>
          <a:p>
            <a:pPr indent="0" marL="0">
              <a:buNone/>
            </a:pPr>
            <a:r>
              <a:rPr lang="en-US" sz="900" b="1" dirty="0">
                <a:solidFill>
                  <a:srgbClr val="0D9488"/>
                </a:solidFill>
                <a:latin typeface="Arial" pitchFamily="34" charset="0"/>
                <a:ea typeface="Arial" pitchFamily="34" charset="-122"/>
                <a:cs typeface="Arial" pitchFamily="34" charset="-120"/>
              </a:rPr>
              <a:t>Kategori: Pareidolia Tekstur Alami</a:t>
            </a:r>
            <a:endParaRPr lang="en-US" sz="900" dirty="0"/>
          </a:p>
        </p:txBody>
      </p:sp>
      <p:sp>
        <p:nvSpPr>
          <p:cNvPr id="17" name="Shape 14"/>
          <p:cNvSpPr/>
          <p:nvPr/>
        </p:nvSpPr>
        <p:spPr>
          <a:xfrm>
            <a:off x="822960" y="6400800"/>
            <a:ext cx="10545775" cy="0"/>
          </a:xfrm>
          <a:prstGeom prst="line">
            <a:avLst/>
          </a:prstGeom>
          <a:noFill/>
          <a:ln w="12700">
            <a:solidFill>
              <a:srgbClr val="E2E8F0"/>
            </a:solidFill>
            <a:prstDash val="solid"/>
          </a:ln>
        </p:spPr>
      </p:sp>
      <p:sp>
        <p:nvSpPr>
          <p:cNvPr id="18" name="Text 15"/>
          <p:cNvSpPr/>
          <p:nvPr/>
        </p:nvSpPr>
        <p:spPr>
          <a:xfrm>
            <a:off x="822960" y="6446520"/>
            <a:ext cx="82296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Fenomena Pareidolia • Tugas Presentasi Kelompok Kelas IX E • [Nama Sekolah]</a:t>
            </a:r>
            <a:endParaRPr lang="en-US" sz="900" dirty="0"/>
          </a:p>
        </p:txBody>
      </p:sp>
      <p:sp>
        <p:nvSpPr>
          <p:cNvPr id="19" name="Text 16"/>
          <p:cNvSpPr/>
          <p:nvPr/>
        </p:nvSpPr>
        <p:spPr>
          <a:xfrm>
            <a:off x="9601200" y="6446520"/>
            <a:ext cx="1767535" cy="274320"/>
          </a:xfrm>
          <a:prstGeom prst="rect">
            <a:avLst/>
          </a:prstGeom>
          <a:noFill/>
          <a:ln/>
        </p:spPr>
        <p:txBody>
          <a:bodyPr wrap="square" rtlCol="0" anchor="ctr"/>
          <a:lstStyle/>
          <a:p>
            <a:pPr algn="r" indent="0" marL="0">
              <a:buNone/>
            </a:pPr>
            <a:r>
              <a:rPr lang="en-US" sz="900" b="1" dirty="0">
                <a:solidFill>
                  <a:srgbClr val="D97706"/>
                </a:solidFill>
                <a:latin typeface="Arial" pitchFamily="34" charset="0"/>
                <a:ea typeface="Arial" pitchFamily="34" charset="-122"/>
                <a:cs typeface="Arial" pitchFamily="34" charset="-120"/>
              </a:rPr>
              <a:t>Slide 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22960" y="502920"/>
            <a:ext cx="10515600" cy="256032"/>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GALERI FENOMENA • RAGAM CONTOH</a:t>
            </a:r>
            <a:endParaRPr lang="en-US" sz="1000" dirty="0"/>
          </a:p>
        </p:txBody>
      </p:sp>
      <p:sp>
        <p:nvSpPr>
          <p:cNvPr id="3" name="Text 1"/>
          <p:cNvSpPr/>
          <p:nvPr/>
        </p:nvSpPr>
        <p:spPr>
          <a:xfrm>
            <a:off x="822960" y="77724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Contoh Pareidolia di Sekitar Kita</a:t>
            </a:r>
            <a:endParaRPr lang="en-US" sz="2400" dirty="0"/>
          </a:p>
        </p:txBody>
      </p:sp>
      <p:sp>
        <p:nvSpPr>
          <p:cNvPr id="4" name="Text 2"/>
          <p:cNvSpPr/>
          <p:nvPr/>
        </p:nvSpPr>
        <p:spPr>
          <a:xfrm>
            <a:off x="822960" y="1389888"/>
            <a:ext cx="10515600" cy="32004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Bagaimana otak manusia menafsirkan pola visual ambigu menjadi wajah pada berbagai macam objek.</a:t>
            </a:r>
            <a:endParaRPr lang="en-US" sz="1200" dirty="0"/>
          </a:p>
        </p:txBody>
      </p:sp>
      <p:sp>
        <p:nvSpPr>
          <p:cNvPr id="5" name="Shape 3"/>
          <p:cNvSpPr/>
          <p:nvPr/>
        </p:nvSpPr>
        <p:spPr>
          <a:xfrm>
            <a:off x="822960" y="1920240"/>
            <a:ext cx="4114800" cy="4251960"/>
          </a:xfrm>
          <a:prstGeom prst="roundRect">
            <a:avLst>
              <a:gd name="adj" fmla="val 2667"/>
            </a:avLst>
          </a:prstGeom>
          <a:solidFill>
            <a:srgbClr val="FFFFFF"/>
          </a:solidFill>
          <a:ln w="25400">
            <a:solidFill>
              <a:srgbClr val="D97706"/>
            </a:solidFill>
            <a:prstDash val="solid"/>
          </a:ln>
        </p:spPr>
      </p:sp>
      <p:sp>
        <p:nvSpPr>
          <p:cNvPr id="6" name="Shape 4"/>
          <p:cNvSpPr/>
          <p:nvPr/>
        </p:nvSpPr>
        <p:spPr>
          <a:xfrm>
            <a:off x="1051560" y="2057400"/>
            <a:ext cx="2926080" cy="256032"/>
          </a:xfrm>
          <a:prstGeom prst="roundRect">
            <a:avLst>
              <a:gd name="adj" fmla="val 21429"/>
            </a:avLst>
          </a:prstGeom>
          <a:solidFill>
            <a:srgbClr val="FEF3C7"/>
          </a:solidFill>
          <a:ln w="12700">
            <a:solidFill>
              <a:srgbClr val="D97706"/>
            </a:solidFill>
            <a:prstDash val="solid"/>
          </a:ln>
        </p:spPr>
      </p:sp>
      <p:sp>
        <p:nvSpPr>
          <p:cNvPr id="7" name="Text 5"/>
          <p:cNvSpPr/>
          <p:nvPr/>
        </p:nvSpPr>
        <p:spPr>
          <a:xfrm>
            <a:off x="1143000" y="2084832"/>
            <a:ext cx="2743200" cy="201168"/>
          </a:xfrm>
          <a:prstGeom prst="rect">
            <a:avLst/>
          </a:prstGeom>
          <a:noFill/>
          <a:ln/>
        </p:spPr>
        <p:txBody>
          <a:bodyPr wrap="square" rtlCol="0" anchor="ctr"/>
          <a:lstStyle/>
          <a:p>
            <a:pPr indent="0" marL="0">
              <a:buNone/>
            </a:pPr>
            <a:r>
              <a:rPr lang="en-US" sz="850" b="1" dirty="0">
                <a:solidFill>
                  <a:srgbClr val="92400E"/>
                </a:solidFill>
                <a:latin typeface="Arial" pitchFamily="34" charset="0"/>
                <a:ea typeface="Arial" pitchFamily="34" charset="-122"/>
                <a:cs typeface="Arial" pitchFamily="34" charset="-120"/>
              </a:rPr>
              <a:t>CONTOH UTAMA (ALODOKTER)</a:t>
            </a:r>
            <a:endParaRPr lang="en-US" sz="850" dirty="0"/>
          </a:p>
        </p:txBody>
      </p:sp>
      <p:pic>
        <p:nvPicPr>
          <p:cNvPr id="8" name="Image 0" descr="/root/am-finder/pareidolia-presentasi/assets/alodokter-pareidolia.jpg">    </p:cNvPr>
          <p:cNvPicPr>
            <a:picLocks noChangeAspect="1"/>
          </p:cNvPicPr>
          <p:nvPr/>
        </p:nvPicPr>
        <p:blipFill>
          <a:blip r:embed="rId1"/>
          <a:srcRect l="0" r="0" t="0" b="0"/>
          <a:stretch/>
        </p:blipFill>
        <p:spPr>
          <a:xfrm>
            <a:off x="1051560" y="2423160"/>
            <a:ext cx="3657600" cy="2011680"/>
          </a:xfrm>
          <a:prstGeom prst="rect">
            <a:avLst/>
          </a:prstGeom>
        </p:spPr>
      </p:pic>
      <p:sp>
        <p:nvSpPr>
          <p:cNvPr id="9" name="Text 6"/>
          <p:cNvSpPr/>
          <p:nvPr/>
        </p:nvSpPr>
        <p:spPr>
          <a:xfrm>
            <a:off x="1051560" y="4526280"/>
            <a:ext cx="36576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Wajah Terkejut pada Benda Mati</a:t>
            </a:r>
            <a:endParaRPr lang="en-US" sz="1300" dirty="0"/>
          </a:p>
        </p:txBody>
      </p:sp>
      <p:sp>
        <p:nvSpPr>
          <p:cNvPr id="10" name="Text 7"/>
          <p:cNvSpPr/>
          <p:nvPr/>
        </p:nvSpPr>
        <p:spPr>
          <a:xfrm>
            <a:off x="1051560" y="4846320"/>
            <a:ext cx="3657600" cy="868680"/>
          </a:xfrm>
          <a:prstGeom prst="rect">
            <a:avLst/>
          </a:prstGeom>
          <a:noFill/>
          <a:ln/>
        </p:spPr>
        <p:txBody>
          <a:bodyPr wrap="square" rtlCol="0" anchor="ctr"/>
          <a:lstStyle/>
          <a:p>
            <a:pPr indent="0" marL="0">
              <a:lnSpc>
                <a:spcPts val="1400"/>
              </a:lnSpc>
              <a:buNone/>
            </a:pPr>
            <a:r>
              <a:rPr lang="en-US" sz="1000" dirty="0">
                <a:solidFill>
                  <a:srgbClr val="475569"/>
                </a:solidFill>
                <a:latin typeface="Calibri" pitchFamily="34" charset="0"/>
                <a:ea typeface="Calibri" pitchFamily="34" charset="-122"/>
                <a:cs typeface="Calibri" pitchFamily="34" charset="-120"/>
              </a:rPr>
              <a:t>Dua titik gelap dan celah horizontal langsung diorganisasikan oleh otak menjadi mata dan mulut. Benda ini sama sekali tidak memiliki wajah; interpretasi ini murni terjadi ketika otak melengkapi pola visual yang ambigu.</a:t>
            </a:r>
            <a:endParaRPr lang="en-US" sz="1000" dirty="0"/>
          </a:p>
        </p:txBody>
      </p:sp>
      <p:sp>
        <p:nvSpPr>
          <p:cNvPr id="11" name="Text 8"/>
          <p:cNvSpPr/>
          <p:nvPr/>
        </p:nvSpPr>
        <p:spPr>
          <a:xfrm>
            <a:off x="1051560" y="5806440"/>
            <a:ext cx="3657600" cy="228600"/>
          </a:xfrm>
          <a:prstGeom prst="rect">
            <a:avLst/>
          </a:prstGeom>
          <a:noFill/>
          <a:ln/>
        </p:spPr>
        <p:txBody>
          <a:bodyPr wrap="square"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Sumber: Alodokter (2023) • Tinjauan Edukasi</a:t>
            </a:r>
            <a:endParaRPr lang="en-US" sz="850" dirty="0"/>
          </a:p>
        </p:txBody>
      </p:sp>
      <p:sp>
        <p:nvSpPr>
          <p:cNvPr id="12" name="Shape 9"/>
          <p:cNvSpPr/>
          <p:nvPr/>
        </p:nvSpPr>
        <p:spPr>
          <a:xfrm>
            <a:off x="5120640" y="1920240"/>
            <a:ext cx="3017520" cy="4251960"/>
          </a:xfrm>
          <a:prstGeom prst="roundRect">
            <a:avLst>
              <a:gd name="adj" fmla="val 3636"/>
            </a:avLst>
          </a:prstGeom>
          <a:solidFill>
            <a:srgbClr val="FFFFFF"/>
          </a:solidFill>
          <a:ln w="12700">
            <a:solidFill>
              <a:srgbClr val="E2E8F0"/>
            </a:solidFill>
            <a:prstDash val="solid"/>
          </a:ln>
        </p:spPr>
      </p:sp>
      <p:pic>
        <p:nvPicPr>
          <p:cNvPr id="13" name="Image 1" descr="/root/am-finder/pareidolia-presentasi/assets/tree-pareidolia.jpg">    </p:cNvPr>
          <p:cNvPicPr>
            <a:picLocks noChangeAspect="1"/>
          </p:cNvPicPr>
          <p:nvPr/>
        </p:nvPicPr>
        <p:blipFill>
          <a:blip r:embed="rId2"/>
          <a:srcRect l="0" r="0" t="0" b="0"/>
          <a:stretch/>
        </p:blipFill>
        <p:spPr>
          <a:xfrm>
            <a:off x="5349240" y="2148840"/>
            <a:ext cx="2560320" cy="2240280"/>
          </a:xfrm>
          <a:prstGeom prst="rect">
            <a:avLst/>
          </a:prstGeom>
        </p:spPr>
      </p:pic>
      <p:sp>
        <p:nvSpPr>
          <p:cNvPr id="14" name="Text 10"/>
          <p:cNvSpPr/>
          <p:nvPr/>
        </p:nvSpPr>
        <p:spPr>
          <a:xfrm>
            <a:off x="5349240" y="4526280"/>
            <a:ext cx="256032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Guratan Batang Pohon</a:t>
            </a:r>
            <a:endParaRPr lang="en-US" sz="1300" dirty="0"/>
          </a:p>
        </p:txBody>
      </p:sp>
      <p:sp>
        <p:nvSpPr>
          <p:cNvPr id="15" name="Text 11"/>
          <p:cNvSpPr/>
          <p:nvPr/>
        </p:nvSpPr>
        <p:spPr>
          <a:xfrm>
            <a:off x="5349240" y="4846320"/>
            <a:ext cx="2560320" cy="1051560"/>
          </a:xfrm>
          <a:prstGeom prst="rect">
            <a:avLst/>
          </a:prstGeom>
          <a:noFill/>
          <a:ln/>
        </p:spPr>
        <p:txBody>
          <a:bodyPr wrap="square" rtlCol="0" anchor="ctr"/>
          <a:lstStyle/>
          <a:p>
            <a:pPr indent="0" marL="0">
              <a:lnSpc>
                <a:spcPts val="1400"/>
              </a:lnSpc>
              <a:buNone/>
            </a:pPr>
            <a:r>
              <a:rPr lang="en-US" sz="1000" dirty="0">
                <a:solidFill>
                  <a:srgbClr val="475569"/>
                </a:solidFill>
                <a:latin typeface="Calibri" pitchFamily="34" charset="0"/>
                <a:ea typeface="Calibri" pitchFamily="34" charset="-122"/>
                <a:cs typeface="Calibri" pitchFamily="34" charset="-120"/>
              </a:rPr>
              <a:t>Kambium yang melingkar dan bekas patahan ranting pada kulit pohon membentuk mata dan hidung. Sering memicu cerita rakyat penampakan di hutan, padahal murni ilusi visual.</a:t>
            </a:r>
            <a:endParaRPr lang="en-US" sz="1000" dirty="0"/>
          </a:p>
        </p:txBody>
      </p:sp>
      <p:sp>
        <p:nvSpPr>
          <p:cNvPr id="16" name="Shape 12"/>
          <p:cNvSpPr/>
          <p:nvPr/>
        </p:nvSpPr>
        <p:spPr>
          <a:xfrm>
            <a:off x="8321040" y="1920240"/>
            <a:ext cx="3047695" cy="4251960"/>
          </a:xfrm>
          <a:prstGeom prst="roundRect">
            <a:avLst>
              <a:gd name="adj" fmla="val 3600"/>
            </a:avLst>
          </a:prstGeom>
          <a:solidFill>
            <a:srgbClr val="FFFFFF"/>
          </a:solidFill>
          <a:ln w="12700">
            <a:solidFill>
              <a:srgbClr val="E2E8F0"/>
            </a:solidFill>
            <a:prstDash val="solid"/>
          </a:ln>
        </p:spPr>
      </p:sp>
      <p:pic>
        <p:nvPicPr>
          <p:cNvPr id="17" name="Image 2" descr="/root/am-finder/pareidolia-presentasi/assets/cloud-pareidolia.jpg">    </p:cNvPr>
          <p:cNvPicPr>
            <a:picLocks noChangeAspect="1"/>
          </p:cNvPicPr>
          <p:nvPr/>
        </p:nvPicPr>
        <p:blipFill>
          <a:blip r:embed="rId3"/>
          <a:srcRect l="0" r="0" t="0" b="0"/>
          <a:stretch/>
        </p:blipFill>
        <p:spPr>
          <a:xfrm>
            <a:off x="8549640" y="2148840"/>
            <a:ext cx="2590495" cy="2240280"/>
          </a:xfrm>
          <a:prstGeom prst="rect">
            <a:avLst/>
          </a:prstGeom>
        </p:spPr>
      </p:pic>
      <p:sp>
        <p:nvSpPr>
          <p:cNvPr id="18" name="Text 13"/>
          <p:cNvSpPr/>
          <p:nvPr/>
        </p:nvSpPr>
        <p:spPr>
          <a:xfrm>
            <a:off x="8549640" y="4526280"/>
            <a:ext cx="2590495"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Gumpalan Awan di Langit</a:t>
            </a:r>
            <a:endParaRPr lang="en-US" sz="1300" dirty="0"/>
          </a:p>
        </p:txBody>
      </p:sp>
      <p:sp>
        <p:nvSpPr>
          <p:cNvPr id="19" name="Text 14"/>
          <p:cNvSpPr/>
          <p:nvPr/>
        </p:nvSpPr>
        <p:spPr>
          <a:xfrm>
            <a:off x="8549640" y="4846320"/>
            <a:ext cx="2590495" cy="1051560"/>
          </a:xfrm>
          <a:prstGeom prst="rect">
            <a:avLst/>
          </a:prstGeom>
          <a:noFill/>
          <a:ln/>
        </p:spPr>
        <p:txBody>
          <a:bodyPr wrap="square" rtlCol="0" anchor="ctr"/>
          <a:lstStyle/>
          <a:p>
            <a:pPr indent="0" marL="0">
              <a:lnSpc>
                <a:spcPts val="1400"/>
              </a:lnSpc>
              <a:buNone/>
            </a:pPr>
            <a:r>
              <a:rPr lang="en-US" sz="1000" dirty="0">
                <a:solidFill>
                  <a:srgbClr val="475569"/>
                </a:solidFill>
                <a:latin typeface="Calibri" pitchFamily="34" charset="0"/>
                <a:ea typeface="Calibri" pitchFamily="34" charset="-122"/>
                <a:cs typeface="Calibri" pitchFamily="34" charset="-120"/>
              </a:rPr>
              <a:t>Formasi uap air yang ditiup angin secara acak kerap tampak seperti profil lumba-lumba, hewan, atau wajah tokoh. Otak secara aktif mencocokkan bentuk acak dengan memori yang tersimpan.</a:t>
            </a:r>
            <a:endParaRPr lang="en-US" sz="1000" dirty="0"/>
          </a:p>
        </p:txBody>
      </p:sp>
      <p:sp>
        <p:nvSpPr>
          <p:cNvPr id="20" name="Shape 15"/>
          <p:cNvSpPr/>
          <p:nvPr/>
        </p:nvSpPr>
        <p:spPr>
          <a:xfrm>
            <a:off x="822960" y="6400800"/>
            <a:ext cx="10545775" cy="0"/>
          </a:xfrm>
          <a:prstGeom prst="line">
            <a:avLst/>
          </a:prstGeom>
          <a:noFill/>
          <a:ln w="12700">
            <a:solidFill>
              <a:srgbClr val="E2E8F0"/>
            </a:solidFill>
            <a:prstDash val="solid"/>
          </a:ln>
        </p:spPr>
      </p:sp>
      <p:sp>
        <p:nvSpPr>
          <p:cNvPr id="21" name="Text 16"/>
          <p:cNvSpPr/>
          <p:nvPr/>
        </p:nvSpPr>
        <p:spPr>
          <a:xfrm>
            <a:off x="822960" y="6446520"/>
            <a:ext cx="82296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Fenomena Pareidolia • Tugas Presentasi Kelompok Kelas IX E • [Nama Sekolah]</a:t>
            </a:r>
            <a:endParaRPr lang="en-US" sz="900" dirty="0"/>
          </a:p>
        </p:txBody>
      </p:sp>
      <p:sp>
        <p:nvSpPr>
          <p:cNvPr id="22" name="Text 17"/>
          <p:cNvSpPr/>
          <p:nvPr/>
        </p:nvSpPr>
        <p:spPr>
          <a:xfrm>
            <a:off x="9601200" y="6446520"/>
            <a:ext cx="1767535" cy="274320"/>
          </a:xfrm>
          <a:prstGeom prst="rect">
            <a:avLst/>
          </a:prstGeom>
          <a:noFill/>
          <a:ln/>
        </p:spPr>
        <p:txBody>
          <a:bodyPr wrap="square" rtlCol="0" anchor="ctr"/>
          <a:lstStyle/>
          <a:p>
            <a:pPr algn="r" indent="0" marL="0">
              <a:buNone/>
            </a:pPr>
            <a:r>
              <a:rPr lang="en-US" sz="900" b="1" dirty="0">
                <a:solidFill>
                  <a:srgbClr val="D97706"/>
                </a:solidFill>
                <a:latin typeface="Arial" pitchFamily="34" charset="0"/>
                <a:ea typeface="Arial" pitchFamily="34" charset="-122"/>
                <a:cs typeface="Arial" pitchFamily="34" charset="-120"/>
              </a:rPr>
              <a:t>Slide 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502920"/>
            <a:ext cx="10515600" cy="256032"/>
          </a:xfrm>
          <a:prstGeom prst="rect">
            <a:avLst/>
          </a:prstGeom>
          <a:noFill/>
          <a:ln/>
        </p:spPr>
        <p:txBody>
          <a:bodyPr wrap="square" rtlCol="0" anchor="ctr"/>
          <a:lstStyle/>
          <a:p>
            <a:pPr indent="0" marL="0">
              <a:buNone/>
            </a:pPr>
            <a:r>
              <a:rPr lang="en-US" sz="1000" b="1" spc="200" kern="0" dirty="0">
                <a:solidFill>
                  <a:srgbClr val="F59E0B"/>
                </a:solidFill>
                <a:latin typeface="Arial" pitchFamily="34" charset="0"/>
                <a:ea typeface="Arial" pitchFamily="34" charset="-122"/>
                <a:cs typeface="Arial" pitchFamily="34" charset="-120"/>
              </a:rPr>
              <a:t>MEKANISME NEUROSAINS • DIAGRAM ALUR VISUAL</a:t>
            </a:r>
            <a:endParaRPr lang="en-US" sz="1000" dirty="0"/>
          </a:p>
        </p:txBody>
      </p:sp>
      <p:sp>
        <p:nvSpPr>
          <p:cNvPr id="3" name="Text 1"/>
          <p:cNvSpPr/>
          <p:nvPr/>
        </p:nvSpPr>
        <p:spPr>
          <a:xfrm>
            <a:off x="822960" y="777240"/>
            <a:ext cx="10515600" cy="59436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Cara Otak Mengenali Wajah: Proses Cepat Sistem Penglihatan</a:t>
            </a:r>
            <a:endParaRPr lang="en-US" sz="2400" dirty="0"/>
          </a:p>
        </p:txBody>
      </p:sp>
      <p:sp>
        <p:nvSpPr>
          <p:cNvPr id="4" name="Text 2"/>
          <p:cNvSpPr/>
          <p:nvPr/>
        </p:nvSpPr>
        <p:spPr>
          <a:xfrm>
            <a:off x="822960" y="1389888"/>
            <a:ext cx="10515600" cy="32004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Perjalanan impuls saraf dalam sepersekian detik dari stimulus mata hingga penafsiran sadar di otak.</a:t>
            </a:r>
            <a:endParaRPr lang="en-US" sz="1200" dirty="0"/>
          </a:p>
        </p:txBody>
      </p:sp>
      <p:sp>
        <p:nvSpPr>
          <p:cNvPr id="5" name="Shape 3"/>
          <p:cNvSpPr/>
          <p:nvPr/>
        </p:nvSpPr>
        <p:spPr>
          <a:xfrm>
            <a:off x="822960" y="1920240"/>
            <a:ext cx="2496312" cy="3520440"/>
          </a:xfrm>
          <a:prstGeom prst="roundRect">
            <a:avLst>
              <a:gd name="adj" fmla="val 4396"/>
            </a:avLst>
          </a:prstGeom>
          <a:solidFill>
            <a:srgbClr val="1E293B"/>
          </a:solidFill>
          <a:ln w="12700">
            <a:solidFill>
              <a:srgbClr val="334155"/>
            </a:solidFill>
            <a:prstDash val="solid"/>
          </a:ln>
        </p:spPr>
      </p:sp>
      <p:sp>
        <p:nvSpPr>
          <p:cNvPr id="6" name="Shape 4"/>
          <p:cNvSpPr/>
          <p:nvPr/>
        </p:nvSpPr>
        <p:spPr>
          <a:xfrm>
            <a:off x="1005840" y="2103120"/>
            <a:ext cx="594360" cy="320040"/>
          </a:xfrm>
          <a:prstGeom prst="roundRect">
            <a:avLst>
              <a:gd name="adj" fmla="val 22857"/>
            </a:avLst>
          </a:prstGeom>
          <a:solidFill>
            <a:srgbClr val="2563EB"/>
          </a:solidFill>
          <a:ln/>
        </p:spPr>
      </p:sp>
      <p:sp>
        <p:nvSpPr>
          <p:cNvPr id="7" name="Text 5"/>
          <p:cNvSpPr/>
          <p:nvPr/>
        </p:nvSpPr>
        <p:spPr>
          <a:xfrm>
            <a:off x="1005840" y="2130552"/>
            <a:ext cx="59436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1691640" y="2148840"/>
            <a:ext cx="1463040" cy="22860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0 – 50 ms</a:t>
            </a:r>
            <a:endParaRPr lang="en-US" sz="1000" dirty="0"/>
          </a:p>
        </p:txBody>
      </p:sp>
      <p:sp>
        <p:nvSpPr>
          <p:cNvPr id="9" name="Text 7"/>
          <p:cNvSpPr/>
          <p:nvPr/>
        </p:nvSpPr>
        <p:spPr>
          <a:xfrm>
            <a:off x="1005840" y="2560320"/>
            <a:ext cx="2130552"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Input Sensorik</a:t>
            </a:r>
            <a:endParaRPr lang="en-US" sz="1300" dirty="0"/>
          </a:p>
        </p:txBody>
      </p:sp>
      <p:sp>
        <p:nvSpPr>
          <p:cNvPr id="10" name="Text 8"/>
          <p:cNvSpPr/>
          <p:nvPr/>
        </p:nvSpPr>
        <p:spPr>
          <a:xfrm>
            <a:off x="1005840" y="2880360"/>
            <a:ext cx="2130552" cy="228600"/>
          </a:xfrm>
          <a:prstGeom prst="rect">
            <a:avLst/>
          </a:prstGeom>
          <a:noFill/>
          <a:ln/>
        </p:spPr>
        <p:txBody>
          <a:bodyPr wrap="square" rtlCol="0" anchor="ctr"/>
          <a:lstStyle/>
          <a:p>
            <a:pPr indent="0" marL="0">
              <a:buNone/>
            </a:pPr>
            <a:r>
              <a:rPr lang="en-US" sz="1000" i="1" dirty="0">
                <a:solidFill>
                  <a:srgbClr val="F59E0B"/>
                </a:solidFill>
                <a:latin typeface="Calibri" pitchFamily="34" charset="0"/>
                <a:ea typeface="Calibri" pitchFamily="34" charset="-122"/>
                <a:cs typeface="Calibri" pitchFamily="34" charset="-120"/>
              </a:rPr>
              <a:t>Mata &amp; Retina</a:t>
            </a:r>
            <a:endParaRPr lang="en-US" sz="1000" dirty="0"/>
          </a:p>
        </p:txBody>
      </p:sp>
      <p:sp>
        <p:nvSpPr>
          <p:cNvPr id="11" name="Shape 9"/>
          <p:cNvSpPr/>
          <p:nvPr/>
        </p:nvSpPr>
        <p:spPr>
          <a:xfrm>
            <a:off x="1005840" y="3200400"/>
            <a:ext cx="2130552" cy="0"/>
          </a:xfrm>
          <a:prstGeom prst="line">
            <a:avLst/>
          </a:prstGeom>
          <a:noFill/>
          <a:ln w="12700">
            <a:solidFill>
              <a:srgbClr val="334155"/>
            </a:solidFill>
            <a:prstDash val="solid"/>
          </a:ln>
        </p:spPr>
      </p:sp>
      <p:sp>
        <p:nvSpPr>
          <p:cNvPr id="12" name="Text 10"/>
          <p:cNvSpPr/>
          <p:nvPr/>
        </p:nvSpPr>
        <p:spPr>
          <a:xfrm>
            <a:off x="1005840" y="3337560"/>
            <a:ext cx="2130552" cy="1920240"/>
          </a:xfrm>
          <a:prstGeom prst="rect">
            <a:avLst/>
          </a:prstGeom>
          <a:noFill/>
          <a:ln/>
        </p:spPr>
        <p:txBody>
          <a:bodyPr wrap="square" rtlCol="0" anchor="ctr"/>
          <a:lstStyle/>
          <a:p>
            <a:pPr indent="0" marL="0">
              <a:lnSpc>
                <a:spcPts val="1400"/>
              </a:lnSpc>
              <a:buNone/>
            </a:pPr>
            <a:r>
              <a:rPr lang="en-US" sz="1000" dirty="0">
                <a:solidFill>
                  <a:srgbClr val="CBD5E1"/>
                </a:solidFill>
                <a:latin typeface="Calibri" pitchFamily="34" charset="0"/>
                <a:ea typeface="Calibri" pitchFamily="34" charset="-122"/>
                <a:cs typeface="Calibri" pitchFamily="34" charset="-120"/>
              </a:rPr>
              <a:t>Cahaya dari benda mati masuk ke lensa mata dan difokuskan ke retina. Sel fotoreseptor mengubah pantulan cahaya &amp; bayangan menjadi impuls listrik saraf mentah.</a:t>
            </a:r>
            <a:endParaRPr lang="en-US" sz="1000" dirty="0"/>
          </a:p>
        </p:txBody>
      </p:sp>
      <p:sp>
        <p:nvSpPr>
          <p:cNvPr id="13" name="Shape 11"/>
          <p:cNvSpPr/>
          <p:nvPr/>
        </p:nvSpPr>
        <p:spPr>
          <a:xfrm>
            <a:off x="3502152" y="1920240"/>
            <a:ext cx="2496312" cy="3520440"/>
          </a:xfrm>
          <a:prstGeom prst="roundRect">
            <a:avLst>
              <a:gd name="adj" fmla="val 4396"/>
            </a:avLst>
          </a:prstGeom>
          <a:solidFill>
            <a:srgbClr val="1E293B"/>
          </a:solidFill>
          <a:ln w="12700">
            <a:solidFill>
              <a:srgbClr val="334155"/>
            </a:solidFill>
            <a:prstDash val="solid"/>
          </a:ln>
        </p:spPr>
      </p:sp>
      <p:sp>
        <p:nvSpPr>
          <p:cNvPr id="14" name="Shape 12"/>
          <p:cNvSpPr/>
          <p:nvPr/>
        </p:nvSpPr>
        <p:spPr>
          <a:xfrm>
            <a:off x="3685032" y="2103120"/>
            <a:ext cx="594360" cy="320040"/>
          </a:xfrm>
          <a:prstGeom prst="roundRect">
            <a:avLst>
              <a:gd name="adj" fmla="val 22857"/>
            </a:avLst>
          </a:prstGeom>
          <a:solidFill>
            <a:srgbClr val="0D9488"/>
          </a:solidFill>
          <a:ln/>
        </p:spPr>
      </p:sp>
      <p:sp>
        <p:nvSpPr>
          <p:cNvPr id="15" name="Text 13"/>
          <p:cNvSpPr/>
          <p:nvPr/>
        </p:nvSpPr>
        <p:spPr>
          <a:xfrm>
            <a:off x="3685032" y="2130552"/>
            <a:ext cx="59436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6" name="Text 14"/>
          <p:cNvSpPr/>
          <p:nvPr/>
        </p:nvSpPr>
        <p:spPr>
          <a:xfrm>
            <a:off x="4370832" y="2148840"/>
            <a:ext cx="1463040" cy="228600"/>
          </a:xfrm>
          <a:prstGeom prst="rect">
            <a:avLst/>
          </a:prstGeom>
          <a:noFill/>
          <a:ln/>
        </p:spPr>
        <p:txBody>
          <a:bodyPr wrap="square" rtlCol="0" anchor="ctr"/>
          <a:lstStyle/>
          <a:p>
            <a:pPr indent="0" marL="0">
              <a:buNone/>
            </a:pPr>
            <a:r>
              <a:rPr lang="en-US" sz="1000" b="1" dirty="0">
                <a:solidFill>
                  <a:srgbClr val="0D9488"/>
                </a:solidFill>
                <a:latin typeface="Arial" pitchFamily="34" charset="0"/>
                <a:ea typeface="Arial" pitchFamily="34" charset="-122"/>
                <a:cs typeface="Arial" pitchFamily="34" charset="-120"/>
              </a:rPr>
              <a:t>50 – 100 ms</a:t>
            </a:r>
            <a:endParaRPr lang="en-US" sz="1000" dirty="0"/>
          </a:p>
        </p:txBody>
      </p:sp>
      <p:sp>
        <p:nvSpPr>
          <p:cNvPr id="17" name="Text 15"/>
          <p:cNvSpPr/>
          <p:nvPr/>
        </p:nvSpPr>
        <p:spPr>
          <a:xfrm>
            <a:off x="3685032" y="2560320"/>
            <a:ext cx="2130552"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Pemetaan Fitur</a:t>
            </a:r>
            <a:endParaRPr lang="en-US" sz="1300" dirty="0"/>
          </a:p>
        </p:txBody>
      </p:sp>
      <p:sp>
        <p:nvSpPr>
          <p:cNvPr id="18" name="Text 16"/>
          <p:cNvSpPr/>
          <p:nvPr/>
        </p:nvSpPr>
        <p:spPr>
          <a:xfrm>
            <a:off x="3685032" y="2880360"/>
            <a:ext cx="2130552" cy="228600"/>
          </a:xfrm>
          <a:prstGeom prst="rect">
            <a:avLst/>
          </a:prstGeom>
          <a:noFill/>
          <a:ln/>
        </p:spPr>
        <p:txBody>
          <a:bodyPr wrap="square" rtlCol="0" anchor="ctr"/>
          <a:lstStyle/>
          <a:p>
            <a:pPr indent="0" marL="0">
              <a:buNone/>
            </a:pPr>
            <a:r>
              <a:rPr lang="en-US" sz="1000" i="1" dirty="0">
                <a:solidFill>
                  <a:srgbClr val="F59E0B"/>
                </a:solidFill>
                <a:latin typeface="Calibri" pitchFamily="34" charset="0"/>
                <a:ea typeface="Calibri" pitchFamily="34" charset="-122"/>
                <a:cs typeface="Calibri" pitchFamily="34" charset="-120"/>
              </a:rPr>
              <a:t>Korteks Visual (V1)</a:t>
            </a:r>
            <a:endParaRPr lang="en-US" sz="1000" dirty="0"/>
          </a:p>
        </p:txBody>
      </p:sp>
      <p:sp>
        <p:nvSpPr>
          <p:cNvPr id="19" name="Shape 17"/>
          <p:cNvSpPr/>
          <p:nvPr/>
        </p:nvSpPr>
        <p:spPr>
          <a:xfrm>
            <a:off x="3685032" y="3200400"/>
            <a:ext cx="2130552" cy="0"/>
          </a:xfrm>
          <a:prstGeom prst="line">
            <a:avLst/>
          </a:prstGeom>
          <a:noFill/>
          <a:ln w="12700">
            <a:solidFill>
              <a:srgbClr val="334155"/>
            </a:solidFill>
            <a:prstDash val="solid"/>
          </a:ln>
        </p:spPr>
      </p:sp>
      <p:sp>
        <p:nvSpPr>
          <p:cNvPr id="20" name="Text 18"/>
          <p:cNvSpPr/>
          <p:nvPr/>
        </p:nvSpPr>
        <p:spPr>
          <a:xfrm>
            <a:off x="3685032" y="3337560"/>
            <a:ext cx="2130552" cy="1920240"/>
          </a:xfrm>
          <a:prstGeom prst="rect">
            <a:avLst/>
          </a:prstGeom>
          <a:noFill/>
          <a:ln/>
        </p:spPr>
        <p:txBody>
          <a:bodyPr wrap="square" rtlCol="0" anchor="ctr"/>
          <a:lstStyle/>
          <a:p>
            <a:pPr indent="0" marL="0">
              <a:lnSpc>
                <a:spcPts val="1400"/>
              </a:lnSpc>
              <a:buNone/>
            </a:pPr>
            <a:r>
              <a:rPr lang="en-US" sz="1000" dirty="0">
                <a:solidFill>
                  <a:srgbClr val="CBD5E1"/>
                </a:solidFill>
                <a:latin typeface="Calibri" pitchFamily="34" charset="0"/>
                <a:ea typeface="Calibri" pitchFamily="34" charset="-122"/>
                <a:cs typeface="Calibri" pitchFamily="34" charset="-120"/>
              </a:rPr>
              <a:t>Impuls listrik melintasi saraf optik menuju lobus oksipital (V1). Otak memetakan garis, kontras gelap-terang, sudut, serta orientasi geometri dasar objek.</a:t>
            </a:r>
            <a:endParaRPr lang="en-US" sz="1000" dirty="0"/>
          </a:p>
        </p:txBody>
      </p:sp>
      <p:sp>
        <p:nvSpPr>
          <p:cNvPr id="21" name="Shape 19"/>
          <p:cNvSpPr/>
          <p:nvPr/>
        </p:nvSpPr>
        <p:spPr>
          <a:xfrm>
            <a:off x="6181344" y="1920240"/>
            <a:ext cx="2496312" cy="3520440"/>
          </a:xfrm>
          <a:prstGeom prst="roundRect">
            <a:avLst>
              <a:gd name="adj" fmla="val 4396"/>
            </a:avLst>
          </a:prstGeom>
          <a:solidFill>
            <a:srgbClr val="1E293B"/>
          </a:solidFill>
          <a:ln w="25400">
            <a:solidFill>
              <a:srgbClr val="F59E0B"/>
            </a:solidFill>
            <a:prstDash val="solid"/>
          </a:ln>
        </p:spPr>
      </p:sp>
      <p:sp>
        <p:nvSpPr>
          <p:cNvPr id="22" name="Shape 20"/>
          <p:cNvSpPr/>
          <p:nvPr/>
        </p:nvSpPr>
        <p:spPr>
          <a:xfrm>
            <a:off x="6364224" y="2103120"/>
            <a:ext cx="594360" cy="320040"/>
          </a:xfrm>
          <a:prstGeom prst="roundRect">
            <a:avLst>
              <a:gd name="adj" fmla="val 22857"/>
            </a:avLst>
          </a:prstGeom>
          <a:solidFill>
            <a:srgbClr val="F59E0B"/>
          </a:solidFill>
          <a:ln/>
        </p:spPr>
      </p:sp>
      <p:sp>
        <p:nvSpPr>
          <p:cNvPr id="23" name="Text 21"/>
          <p:cNvSpPr/>
          <p:nvPr/>
        </p:nvSpPr>
        <p:spPr>
          <a:xfrm>
            <a:off x="6364224" y="2130552"/>
            <a:ext cx="59436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24" name="Text 22"/>
          <p:cNvSpPr/>
          <p:nvPr/>
        </p:nvSpPr>
        <p:spPr>
          <a:xfrm>
            <a:off x="7050024" y="2148840"/>
            <a:ext cx="1463040" cy="2286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~165 ms (Kilat!)</a:t>
            </a:r>
            <a:endParaRPr lang="en-US" sz="1000" dirty="0"/>
          </a:p>
        </p:txBody>
      </p:sp>
      <p:sp>
        <p:nvSpPr>
          <p:cNvPr id="25" name="Text 23"/>
          <p:cNvSpPr/>
          <p:nvPr/>
        </p:nvSpPr>
        <p:spPr>
          <a:xfrm>
            <a:off x="6364224" y="2560320"/>
            <a:ext cx="2130552"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Deteksi Cepat Wajah</a:t>
            </a:r>
            <a:endParaRPr lang="en-US" sz="1300" dirty="0"/>
          </a:p>
        </p:txBody>
      </p:sp>
      <p:sp>
        <p:nvSpPr>
          <p:cNvPr id="26" name="Text 24"/>
          <p:cNvSpPr/>
          <p:nvPr/>
        </p:nvSpPr>
        <p:spPr>
          <a:xfrm>
            <a:off x="6364224" y="2880360"/>
            <a:ext cx="2130552" cy="228600"/>
          </a:xfrm>
          <a:prstGeom prst="rect">
            <a:avLst/>
          </a:prstGeom>
          <a:noFill/>
          <a:ln/>
        </p:spPr>
        <p:txBody>
          <a:bodyPr wrap="square" rtlCol="0" anchor="ctr"/>
          <a:lstStyle/>
          <a:p>
            <a:pPr indent="0" marL="0">
              <a:buNone/>
            </a:pPr>
            <a:r>
              <a:rPr lang="en-US" sz="1000" i="1" dirty="0">
                <a:solidFill>
                  <a:srgbClr val="F59E0B"/>
                </a:solidFill>
                <a:latin typeface="Calibri" pitchFamily="34" charset="0"/>
                <a:ea typeface="Calibri" pitchFamily="34" charset="-122"/>
                <a:cs typeface="Calibri" pitchFamily="34" charset="-120"/>
              </a:rPr>
              <a:t>Fusiform Face Area (FFA)</a:t>
            </a:r>
            <a:endParaRPr lang="en-US" sz="1000" dirty="0"/>
          </a:p>
        </p:txBody>
      </p:sp>
      <p:sp>
        <p:nvSpPr>
          <p:cNvPr id="27" name="Shape 25"/>
          <p:cNvSpPr/>
          <p:nvPr/>
        </p:nvSpPr>
        <p:spPr>
          <a:xfrm>
            <a:off x="6364224" y="3200400"/>
            <a:ext cx="2130552" cy="0"/>
          </a:xfrm>
          <a:prstGeom prst="line">
            <a:avLst/>
          </a:prstGeom>
          <a:noFill/>
          <a:ln w="12700">
            <a:solidFill>
              <a:srgbClr val="334155"/>
            </a:solidFill>
            <a:prstDash val="solid"/>
          </a:ln>
        </p:spPr>
      </p:sp>
      <p:sp>
        <p:nvSpPr>
          <p:cNvPr id="28" name="Text 26"/>
          <p:cNvSpPr/>
          <p:nvPr/>
        </p:nvSpPr>
        <p:spPr>
          <a:xfrm>
            <a:off x="6364224" y="3337560"/>
            <a:ext cx="2130552" cy="1920240"/>
          </a:xfrm>
          <a:prstGeom prst="rect">
            <a:avLst/>
          </a:prstGeom>
          <a:noFill/>
          <a:ln/>
        </p:spPr>
        <p:txBody>
          <a:bodyPr wrap="square" rtlCol="0" anchor="ctr"/>
          <a:lstStyle/>
          <a:p>
            <a:pPr indent="0" marL="0">
              <a:lnSpc>
                <a:spcPts val="1400"/>
              </a:lnSpc>
              <a:buNone/>
            </a:pPr>
            <a:r>
              <a:rPr lang="en-US" sz="1000" dirty="0">
                <a:solidFill>
                  <a:srgbClr val="CBD5E1"/>
                </a:solidFill>
                <a:latin typeface="Calibri" pitchFamily="34" charset="0"/>
                <a:ea typeface="Calibri" pitchFamily="34" charset="-122"/>
                <a:cs typeface="Calibri" pitchFamily="34" charset="-120"/>
              </a:rPr>
              <a:t>Sirkuit khusus di lobus temporal (FFA) sangat peka mendeteksi pola dasar wajah (2 mata di atas, 1 mulut di bawah). Area ini langsung aktif: "Ada wajah!"</a:t>
            </a:r>
            <a:endParaRPr lang="en-US" sz="1000" dirty="0"/>
          </a:p>
        </p:txBody>
      </p:sp>
      <p:sp>
        <p:nvSpPr>
          <p:cNvPr id="29" name="Shape 27"/>
          <p:cNvSpPr/>
          <p:nvPr/>
        </p:nvSpPr>
        <p:spPr>
          <a:xfrm>
            <a:off x="8860536" y="1920240"/>
            <a:ext cx="2496312" cy="3520440"/>
          </a:xfrm>
          <a:prstGeom prst="roundRect">
            <a:avLst>
              <a:gd name="adj" fmla="val 4396"/>
            </a:avLst>
          </a:prstGeom>
          <a:solidFill>
            <a:srgbClr val="1E293B"/>
          </a:solidFill>
          <a:ln w="12700">
            <a:solidFill>
              <a:srgbClr val="334155"/>
            </a:solidFill>
            <a:prstDash val="solid"/>
          </a:ln>
        </p:spPr>
      </p:sp>
      <p:sp>
        <p:nvSpPr>
          <p:cNvPr id="30" name="Shape 28"/>
          <p:cNvSpPr/>
          <p:nvPr/>
        </p:nvSpPr>
        <p:spPr>
          <a:xfrm>
            <a:off x="9043416" y="2103120"/>
            <a:ext cx="594360" cy="320040"/>
          </a:xfrm>
          <a:prstGeom prst="roundRect">
            <a:avLst>
              <a:gd name="adj" fmla="val 22857"/>
            </a:avLst>
          </a:prstGeom>
          <a:solidFill>
            <a:srgbClr val="D97706"/>
          </a:solidFill>
          <a:ln/>
        </p:spPr>
      </p:sp>
      <p:sp>
        <p:nvSpPr>
          <p:cNvPr id="31" name="Text 29"/>
          <p:cNvSpPr/>
          <p:nvPr/>
        </p:nvSpPr>
        <p:spPr>
          <a:xfrm>
            <a:off x="9043416" y="2130552"/>
            <a:ext cx="59436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32" name="Text 30"/>
          <p:cNvSpPr/>
          <p:nvPr/>
        </p:nvSpPr>
        <p:spPr>
          <a:xfrm>
            <a:off x="9729216" y="2148840"/>
            <a:ext cx="146304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&gt; 250 ms</a:t>
            </a:r>
            <a:endParaRPr lang="en-US" sz="1000" dirty="0"/>
          </a:p>
        </p:txBody>
      </p:sp>
      <p:sp>
        <p:nvSpPr>
          <p:cNvPr id="33" name="Text 31"/>
          <p:cNvSpPr/>
          <p:nvPr/>
        </p:nvSpPr>
        <p:spPr>
          <a:xfrm>
            <a:off x="9043416" y="2560320"/>
            <a:ext cx="2130552"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Evaluasi Logis</a:t>
            </a:r>
            <a:endParaRPr lang="en-US" sz="1300" dirty="0"/>
          </a:p>
        </p:txBody>
      </p:sp>
      <p:sp>
        <p:nvSpPr>
          <p:cNvPr id="34" name="Text 32"/>
          <p:cNvSpPr/>
          <p:nvPr/>
        </p:nvSpPr>
        <p:spPr>
          <a:xfrm>
            <a:off x="9043416" y="2880360"/>
            <a:ext cx="2130552" cy="228600"/>
          </a:xfrm>
          <a:prstGeom prst="rect">
            <a:avLst/>
          </a:prstGeom>
          <a:noFill/>
          <a:ln/>
        </p:spPr>
        <p:txBody>
          <a:bodyPr wrap="square" rtlCol="0" anchor="ctr"/>
          <a:lstStyle/>
          <a:p>
            <a:pPr indent="0" marL="0">
              <a:buNone/>
            </a:pPr>
            <a:r>
              <a:rPr lang="en-US" sz="1000" i="1" dirty="0">
                <a:solidFill>
                  <a:srgbClr val="F59E0B"/>
                </a:solidFill>
                <a:latin typeface="Calibri" pitchFamily="34" charset="0"/>
                <a:ea typeface="Calibri" pitchFamily="34" charset="-122"/>
                <a:cs typeface="Calibri" pitchFamily="34" charset="-120"/>
              </a:rPr>
              <a:t>Korteks Prefrontal</a:t>
            </a:r>
            <a:endParaRPr lang="en-US" sz="1000" dirty="0"/>
          </a:p>
        </p:txBody>
      </p:sp>
      <p:sp>
        <p:nvSpPr>
          <p:cNvPr id="35" name="Shape 33"/>
          <p:cNvSpPr/>
          <p:nvPr/>
        </p:nvSpPr>
        <p:spPr>
          <a:xfrm>
            <a:off x="9043416" y="3200400"/>
            <a:ext cx="2130552" cy="0"/>
          </a:xfrm>
          <a:prstGeom prst="line">
            <a:avLst/>
          </a:prstGeom>
          <a:noFill/>
          <a:ln w="12700">
            <a:solidFill>
              <a:srgbClr val="334155"/>
            </a:solidFill>
            <a:prstDash val="solid"/>
          </a:ln>
        </p:spPr>
      </p:sp>
      <p:sp>
        <p:nvSpPr>
          <p:cNvPr id="36" name="Text 34"/>
          <p:cNvSpPr/>
          <p:nvPr/>
        </p:nvSpPr>
        <p:spPr>
          <a:xfrm>
            <a:off x="9043416" y="3337560"/>
            <a:ext cx="2130552" cy="1920240"/>
          </a:xfrm>
          <a:prstGeom prst="rect">
            <a:avLst/>
          </a:prstGeom>
          <a:noFill/>
          <a:ln/>
        </p:spPr>
        <p:txBody>
          <a:bodyPr wrap="square" rtlCol="0" anchor="ctr"/>
          <a:lstStyle/>
          <a:p>
            <a:pPr indent="0" marL="0">
              <a:lnSpc>
                <a:spcPts val="1400"/>
              </a:lnSpc>
              <a:buNone/>
            </a:pPr>
            <a:r>
              <a:rPr lang="en-US" sz="1000" dirty="0">
                <a:solidFill>
                  <a:srgbClr val="CBD5E1"/>
                </a:solidFill>
                <a:latin typeface="Calibri" pitchFamily="34" charset="0"/>
                <a:ea typeface="Calibri" pitchFamily="34" charset="-122"/>
                <a:cs typeface="Calibri" pitchFamily="34" charset="-120"/>
              </a:rPr>
              <a:t>Area penalaran sadar di lobus depan mengevaluasi konteks: "Itu hanya stopkontak di dinding, bukan orang sungguhan." Kesadaran rasional pun terbentuk.</a:t>
            </a:r>
            <a:endParaRPr lang="en-US" sz="1000" dirty="0"/>
          </a:p>
        </p:txBody>
      </p:sp>
      <p:sp>
        <p:nvSpPr>
          <p:cNvPr id="37" name="Shape 35"/>
          <p:cNvSpPr/>
          <p:nvPr/>
        </p:nvSpPr>
        <p:spPr>
          <a:xfrm>
            <a:off x="822960" y="5623560"/>
            <a:ext cx="10545775" cy="594360"/>
          </a:xfrm>
          <a:prstGeom prst="roundRect">
            <a:avLst>
              <a:gd name="adj" fmla="val 12308"/>
            </a:avLst>
          </a:prstGeom>
          <a:solidFill>
            <a:srgbClr val="1E293B"/>
          </a:solidFill>
          <a:ln w="12700">
            <a:solidFill>
              <a:srgbClr val="F59E0B"/>
            </a:solidFill>
            <a:prstDash val="solid"/>
          </a:ln>
        </p:spPr>
      </p:sp>
      <p:sp>
        <p:nvSpPr>
          <p:cNvPr id="38" name="Text 36"/>
          <p:cNvSpPr/>
          <p:nvPr/>
        </p:nvSpPr>
        <p:spPr>
          <a:xfrm>
            <a:off x="1051560" y="5733288"/>
            <a:ext cx="10058400" cy="384048"/>
          </a:xfrm>
          <a:prstGeom prst="rect">
            <a:avLst/>
          </a:prstGeom>
          <a:noFill/>
          <a:ln/>
        </p:spPr>
        <p:txBody>
          <a:bodyPr wrap="square" rtlCol="0" anchor="ctr"/>
          <a:lstStyle/>
          <a:p>
            <a:pPr indent="0" marL="0">
              <a:lnSpc>
                <a:spcPts val="1500"/>
              </a:lnSpc>
              <a:buNone/>
            </a:pPr>
            <a:r>
              <a:rPr lang="en-US" sz="1050" b="1" dirty="0">
                <a:solidFill>
                  <a:srgbClr val="F59E0B"/>
                </a:solidFill>
                <a:latin typeface="Calibri" pitchFamily="34" charset="0"/>
                <a:ea typeface="Calibri" pitchFamily="34" charset="-122"/>
                <a:cs typeface="Calibri" pitchFamily="34" charset="-120"/>
              </a:rPr>
              <a:t>POIN PENTING NEUROSAINS: </a:t>
            </a:r>
            <a:pPr indent="0" marL="0">
              <a:lnSpc>
                <a:spcPts val="1500"/>
              </a:lnSpc>
              <a:buNone/>
            </a:pPr>
            <a:r>
              <a:rPr lang="en-US" sz="1050" dirty="0">
                <a:solidFill>
                  <a:srgbClr val="E2E8F0"/>
                </a:solidFill>
                <a:latin typeface="Calibri" pitchFamily="34" charset="0"/>
                <a:ea typeface="Calibri" pitchFamily="34" charset="-122"/>
                <a:cs typeface="Calibri" pitchFamily="34" charset="-120"/>
              </a:rPr>
              <a:t>Detektor wajah di otak (FFA) bereaksi jauh lebih cepat daripada akal sadar kita. Itulah sebabnya kita selalu "melihat wajah" terlebih dahulu sebelum akal sehat menyadari bahwa objek tersebut hanyalah benda mati!</a:t>
            </a:r>
            <a:endParaRPr lang="en-US" sz="1050" dirty="0"/>
          </a:p>
        </p:txBody>
      </p:sp>
      <p:sp>
        <p:nvSpPr>
          <p:cNvPr id="39" name="Shape 37"/>
          <p:cNvSpPr/>
          <p:nvPr/>
        </p:nvSpPr>
        <p:spPr>
          <a:xfrm>
            <a:off x="822960" y="6400800"/>
            <a:ext cx="10545775" cy="0"/>
          </a:xfrm>
          <a:prstGeom prst="line">
            <a:avLst/>
          </a:prstGeom>
          <a:noFill/>
          <a:ln w="12700">
            <a:solidFill>
              <a:srgbClr val="334155"/>
            </a:solidFill>
            <a:prstDash val="solid"/>
          </a:ln>
        </p:spPr>
      </p:sp>
      <p:sp>
        <p:nvSpPr>
          <p:cNvPr id="40" name="Text 38"/>
          <p:cNvSpPr/>
          <p:nvPr/>
        </p:nvSpPr>
        <p:spPr>
          <a:xfrm>
            <a:off x="822960" y="6446520"/>
            <a:ext cx="8229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Fenomena Pareidolia • Tugas Presentasi Kelompok Kelas IX E • [Nama Sekolah]</a:t>
            </a:r>
            <a:endParaRPr lang="en-US" sz="900" dirty="0"/>
          </a:p>
        </p:txBody>
      </p:sp>
      <p:sp>
        <p:nvSpPr>
          <p:cNvPr id="41" name="Text 39"/>
          <p:cNvSpPr/>
          <p:nvPr/>
        </p:nvSpPr>
        <p:spPr>
          <a:xfrm>
            <a:off x="9601200" y="6446520"/>
            <a:ext cx="1767535"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22960" y="502920"/>
            <a:ext cx="10515600" cy="256032"/>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PERSPEKTIF ILMIAH • FAKTOR PENYEBAB</a:t>
            </a:r>
            <a:endParaRPr lang="en-US" sz="1000" dirty="0"/>
          </a:p>
        </p:txBody>
      </p:sp>
      <p:sp>
        <p:nvSpPr>
          <p:cNvPr id="3" name="Text 1"/>
          <p:cNvSpPr/>
          <p:nvPr/>
        </p:nvSpPr>
        <p:spPr>
          <a:xfrm>
            <a:off x="822960" y="77724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Mengapa Pareidolia Terjadi? Tiga Penjelasan Ilmiah</a:t>
            </a:r>
            <a:endParaRPr lang="en-US" sz="2400" dirty="0"/>
          </a:p>
        </p:txBody>
      </p:sp>
      <p:sp>
        <p:nvSpPr>
          <p:cNvPr id="4" name="Text 2"/>
          <p:cNvSpPr/>
          <p:nvPr/>
        </p:nvSpPr>
        <p:spPr>
          <a:xfrm>
            <a:off x="822960" y="1389888"/>
            <a:ext cx="10515600" cy="32004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Kombinasi antara strategi bertahan hidup nenek moyang, sifat pencari pola otak, dan pengaruh konteks.</a:t>
            </a:r>
            <a:endParaRPr lang="en-US" sz="1200" dirty="0"/>
          </a:p>
        </p:txBody>
      </p:sp>
      <p:sp>
        <p:nvSpPr>
          <p:cNvPr id="5" name="Shape 3"/>
          <p:cNvSpPr/>
          <p:nvPr/>
        </p:nvSpPr>
        <p:spPr>
          <a:xfrm>
            <a:off x="822960" y="1920240"/>
            <a:ext cx="3337560" cy="3657600"/>
          </a:xfrm>
          <a:prstGeom prst="roundRect">
            <a:avLst>
              <a:gd name="adj" fmla="val 3288"/>
            </a:avLst>
          </a:prstGeom>
          <a:solidFill>
            <a:srgbClr val="FFFFFF"/>
          </a:solidFill>
          <a:ln w="12700">
            <a:solidFill>
              <a:srgbClr val="E2E8F0"/>
            </a:solidFill>
            <a:prstDash val="solid"/>
          </a:ln>
        </p:spPr>
      </p:sp>
      <p:sp>
        <p:nvSpPr>
          <p:cNvPr id="6" name="Text 4"/>
          <p:cNvSpPr/>
          <p:nvPr/>
        </p:nvSpPr>
        <p:spPr>
          <a:xfrm>
            <a:off x="1051560" y="2103120"/>
            <a:ext cx="2880360" cy="228600"/>
          </a:xfrm>
          <a:prstGeom prst="rect">
            <a:avLst/>
          </a:prstGeom>
          <a:noFill/>
          <a:ln/>
        </p:spPr>
        <p:txBody>
          <a:bodyPr wrap="square" rtlCol="0" anchor="ctr"/>
          <a:lstStyle/>
          <a:p>
            <a:pPr indent="0" marL="0">
              <a:buNone/>
            </a:pPr>
            <a:r>
              <a:rPr lang="en-US" sz="950" b="1" spc="120" kern="0" dirty="0">
                <a:solidFill>
                  <a:srgbClr val="D97706"/>
                </a:solidFill>
                <a:latin typeface="Arial" pitchFamily="34" charset="0"/>
                <a:ea typeface="Arial" pitchFamily="34" charset="-122"/>
                <a:cs typeface="Arial" pitchFamily="34" charset="-120"/>
              </a:rPr>
              <a:t>1. NILAI BERTAHAN HIDUP</a:t>
            </a:r>
            <a:endParaRPr lang="en-US" sz="950" dirty="0"/>
          </a:p>
        </p:txBody>
      </p:sp>
      <p:sp>
        <p:nvSpPr>
          <p:cNvPr id="7" name="Text 5"/>
          <p:cNvSpPr/>
          <p:nvPr/>
        </p:nvSpPr>
        <p:spPr>
          <a:xfrm>
            <a:off x="1051560" y="2331720"/>
            <a:ext cx="288036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Adaptasi Evolusi Manusia</a:t>
            </a:r>
            <a:endParaRPr lang="en-US" sz="1400" dirty="0"/>
          </a:p>
        </p:txBody>
      </p:sp>
      <p:sp>
        <p:nvSpPr>
          <p:cNvPr id="8" name="Shape 6"/>
          <p:cNvSpPr/>
          <p:nvPr/>
        </p:nvSpPr>
        <p:spPr>
          <a:xfrm>
            <a:off x="1051560" y="2697480"/>
            <a:ext cx="1645920" cy="228600"/>
          </a:xfrm>
          <a:prstGeom prst="roundRect">
            <a:avLst>
              <a:gd name="adj" fmla="val 20000"/>
            </a:avLst>
          </a:prstGeom>
          <a:solidFill>
            <a:srgbClr val="F8FAFC"/>
          </a:solidFill>
          <a:ln w="12700">
            <a:solidFill>
              <a:srgbClr val="E2E8F0"/>
            </a:solidFill>
            <a:prstDash val="solid"/>
          </a:ln>
        </p:spPr>
      </p:sp>
      <p:sp>
        <p:nvSpPr>
          <p:cNvPr id="9" name="Text 7"/>
          <p:cNvSpPr/>
          <p:nvPr/>
        </p:nvSpPr>
        <p:spPr>
          <a:xfrm>
            <a:off x="1051560" y="2715768"/>
            <a:ext cx="1645920" cy="201168"/>
          </a:xfrm>
          <a:prstGeom prst="rect">
            <a:avLst/>
          </a:prstGeom>
          <a:noFill/>
          <a:ln/>
        </p:spPr>
        <p:txBody>
          <a:bodyPr wrap="square" rtlCol="0" anchor="ctr"/>
          <a:lstStyle/>
          <a:p>
            <a:pPr algn="ctr" indent="0" marL="0">
              <a:buNone/>
            </a:pPr>
            <a:r>
              <a:rPr lang="en-US" sz="850" b="1" dirty="0">
                <a:solidFill>
                  <a:srgbClr val="D97706"/>
                </a:solidFill>
                <a:latin typeface="Calibri" pitchFamily="34" charset="0"/>
                <a:ea typeface="Calibri" pitchFamily="34" charset="-122"/>
                <a:cs typeface="Calibri" pitchFamily="34" charset="-120"/>
              </a:rPr>
              <a:t>Hipotesis Antropologi</a:t>
            </a:r>
            <a:endParaRPr lang="en-US" sz="850" dirty="0"/>
          </a:p>
        </p:txBody>
      </p:sp>
      <p:sp>
        <p:nvSpPr>
          <p:cNvPr id="10" name="Text 8"/>
          <p:cNvSpPr/>
          <p:nvPr/>
        </p:nvSpPr>
        <p:spPr>
          <a:xfrm>
            <a:off x="1051560" y="3063240"/>
            <a:ext cx="2880360" cy="2377440"/>
          </a:xfrm>
          <a:prstGeom prst="rect">
            <a:avLst/>
          </a:prstGeom>
          <a:noFill/>
          <a:ln/>
        </p:spPr>
        <p:txBody>
          <a:bodyPr wrap="square" rtlCol="0" anchor="ctr"/>
          <a:lstStyle/>
          <a:p>
            <a:pPr indent="0" marL="0">
              <a:lnSpc>
                <a:spcPts val="1400"/>
              </a:lnSpc>
              <a:buNone/>
            </a:pPr>
            <a:r>
              <a:rPr lang="en-US" sz="1000" dirty="0">
                <a:solidFill>
                  <a:srgbClr val="475569"/>
                </a:solidFill>
                <a:latin typeface="Calibri" pitchFamily="34" charset="0"/>
                <a:ea typeface="Calibri" pitchFamily="34" charset="-122"/>
                <a:cs typeface="Calibri" pitchFamily="34" charset="-120"/>
              </a:rPr>
              <a:t>• Bagi nenek moyang kita, mengenali wajah predator yang bersembunyi di semak atau mengenali musuh adalah penentu hidup dan mati.
• Prinsip Keamanan: Lebih baik salah mengira semak sebagai wajah predator (false positive) daripada gagal melihat predator sungguhan (false negative fatal).
• Seleksi alam membentuk sistem penglihatan yang "sangat sensitif" mendeteksi wajah.
</a:t>
            </a:r>
            <a:endParaRPr lang="en-US" sz="1000" dirty="0"/>
          </a:p>
        </p:txBody>
      </p:sp>
      <p:sp>
        <p:nvSpPr>
          <p:cNvPr id="11" name="Shape 9"/>
          <p:cNvSpPr/>
          <p:nvPr/>
        </p:nvSpPr>
        <p:spPr>
          <a:xfrm>
            <a:off x="4425696" y="1920240"/>
            <a:ext cx="3337560" cy="3657600"/>
          </a:xfrm>
          <a:prstGeom prst="roundRect">
            <a:avLst>
              <a:gd name="adj" fmla="val 3288"/>
            </a:avLst>
          </a:prstGeom>
          <a:solidFill>
            <a:srgbClr val="FFFFFF"/>
          </a:solidFill>
          <a:ln w="12700">
            <a:solidFill>
              <a:srgbClr val="E2E8F0"/>
            </a:solidFill>
            <a:prstDash val="solid"/>
          </a:ln>
        </p:spPr>
      </p:sp>
      <p:sp>
        <p:nvSpPr>
          <p:cNvPr id="12" name="Text 10"/>
          <p:cNvSpPr/>
          <p:nvPr/>
        </p:nvSpPr>
        <p:spPr>
          <a:xfrm>
            <a:off x="4654296" y="2103120"/>
            <a:ext cx="2880360" cy="228600"/>
          </a:xfrm>
          <a:prstGeom prst="rect">
            <a:avLst/>
          </a:prstGeom>
          <a:noFill/>
          <a:ln/>
        </p:spPr>
        <p:txBody>
          <a:bodyPr wrap="square" rtlCol="0" anchor="ctr"/>
          <a:lstStyle/>
          <a:p>
            <a:pPr indent="0" marL="0">
              <a:buNone/>
            </a:pPr>
            <a:r>
              <a:rPr lang="en-US" sz="950" b="1" spc="120" kern="0" dirty="0">
                <a:solidFill>
                  <a:srgbClr val="0D9488"/>
                </a:solidFill>
                <a:latin typeface="Arial" pitchFamily="34" charset="0"/>
                <a:ea typeface="Arial" pitchFamily="34" charset="-122"/>
                <a:cs typeface="Arial" pitchFamily="34" charset="-120"/>
              </a:rPr>
              <a:t>2. MESIN PENCARI POLA</a:t>
            </a:r>
            <a:endParaRPr lang="en-US" sz="950" dirty="0"/>
          </a:p>
        </p:txBody>
      </p:sp>
      <p:sp>
        <p:nvSpPr>
          <p:cNvPr id="13" name="Text 11"/>
          <p:cNvSpPr/>
          <p:nvPr/>
        </p:nvSpPr>
        <p:spPr>
          <a:xfrm>
            <a:off x="4654296" y="2331720"/>
            <a:ext cx="288036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Kecenderungan Otak (Gestalt)</a:t>
            </a:r>
            <a:endParaRPr lang="en-US" sz="1400" dirty="0"/>
          </a:p>
        </p:txBody>
      </p:sp>
      <p:sp>
        <p:nvSpPr>
          <p:cNvPr id="14" name="Shape 12"/>
          <p:cNvSpPr/>
          <p:nvPr/>
        </p:nvSpPr>
        <p:spPr>
          <a:xfrm>
            <a:off x="4654296" y="2697480"/>
            <a:ext cx="1645920" cy="228600"/>
          </a:xfrm>
          <a:prstGeom prst="roundRect">
            <a:avLst>
              <a:gd name="adj" fmla="val 20000"/>
            </a:avLst>
          </a:prstGeom>
          <a:solidFill>
            <a:srgbClr val="F8FAFC"/>
          </a:solidFill>
          <a:ln w="12700">
            <a:solidFill>
              <a:srgbClr val="E2E8F0"/>
            </a:solidFill>
            <a:prstDash val="solid"/>
          </a:ln>
        </p:spPr>
      </p:sp>
      <p:sp>
        <p:nvSpPr>
          <p:cNvPr id="15" name="Text 13"/>
          <p:cNvSpPr/>
          <p:nvPr/>
        </p:nvSpPr>
        <p:spPr>
          <a:xfrm>
            <a:off x="4654296" y="2715768"/>
            <a:ext cx="1645920" cy="201168"/>
          </a:xfrm>
          <a:prstGeom prst="rect">
            <a:avLst/>
          </a:prstGeom>
          <a:noFill/>
          <a:ln/>
        </p:spPr>
        <p:txBody>
          <a:bodyPr wrap="square" rtlCol="0" anchor="ctr"/>
          <a:lstStyle/>
          <a:p>
            <a:pPr algn="ctr" indent="0" marL="0">
              <a:buNone/>
            </a:pPr>
            <a:r>
              <a:rPr lang="en-US" sz="850" b="1" dirty="0">
                <a:solidFill>
                  <a:srgbClr val="0D9488"/>
                </a:solidFill>
                <a:latin typeface="Calibri" pitchFamily="34" charset="0"/>
                <a:ea typeface="Calibri" pitchFamily="34" charset="-122"/>
                <a:cs typeface="Calibri" pitchFamily="34" charset="-120"/>
              </a:rPr>
              <a:t>Prinsip Kognitif</a:t>
            </a:r>
            <a:endParaRPr lang="en-US" sz="850" dirty="0"/>
          </a:p>
        </p:txBody>
      </p:sp>
      <p:sp>
        <p:nvSpPr>
          <p:cNvPr id="16" name="Text 14"/>
          <p:cNvSpPr/>
          <p:nvPr/>
        </p:nvSpPr>
        <p:spPr>
          <a:xfrm>
            <a:off x="4654296" y="3063240"/>
            <a:ext cx="2880360" cy="2377440"/>
          </a:xfrm>
          <a:prstGeom prst="rect">
            <a:avLst/>
          </a:prstGeom>
          <a:noFill/>
          <a:ln/>
        </p:spPr>
        <p:txBody>
          <a:bodyPr wrap="square" rtlCol="0" anchor="ctr"/>
          <a:lstStyle/>
          <a:p>
            <a:pPr indent="0" marL="0">
              <a:lnSpc>
                <a:spcPts val="1400"/>
              </a:lnSpc>
              <a:buNone/>
            </a:pPr>
            <a:r>
              <a:rPr lang="en-US" sz="1000" dirty="0">
                <a:solidFill>
                  <a:srgbClr val="475569"/>
                </a:solidFill>
                <a:latin typeface="Calibri" pitchFamily="34" charset="0"/>
                <a:ea typeface="Calibri" pitchFamily="34" charset="-122"/>
                <a:cs typeface="Calibri" pitchFamily="34" charset="-120"/>
              </a:rPr>
              <a:t>• Otak manusia adalah "mesin pembuat makna" yang selalu berusaha merapikan rangsangan visual acak menjadi bentuk bermakna.
• Prinsip Closure: Ketika melihat informasi visual yang samar atau tidak lengkap, otak secara otomatis melengkapi bagian yang kosong.
• Wajah adalah pola yang paling sering kita lihat sejak bayi, sehingga menjadi templat visual utama otak.
</a:t>
            </a:r>
            <a:endParaRPr lang="en-US" sz="1000" dirty="0"/>
          </a:p>
        </p:txBody>
      </p:sp>
      <p:sp>
        <p:nvSpPr>
          <p:cNvPr id="17" name="Shape 15"/>
          <p:cNvSpPr/>
          <p:nvPr/>
        </p:nvSpPr>
        <p:spPr>
          <a:xfrm>
            <a:off x="8028432" y="1920240"/>
            <a:ext cx="3337560" cy="3657600"/>
          </a:xfrm>
          <a:prstGeom prst="roundRect">
            <a:avLst>
              <a:gd name="adj" fmla="val 3288"/>
            </a:avLst>
          </a:prstGeom>
          <a:solidFill>
            <a:srgbClr val="FFFFFF"/>
          </a:solidFill>
          <a:ln w="12700">
            <a:solidFill>
              <a:srgbClr val="E2E8F0"/>
            </a:solidFill>
            <a:prstDash val="solid"/>
          </a:ln>
        </p:spPr>
      </p:sp>
      <p:sp>
        <p:nvSpPr>
          <p:cNvPr id="18" name="Text 16"/>
          <p:cNvSpPr/>
          <p:nvPr/>
        </p:nvSpPr>
        <p:spPr>
          <a:xfrm>
            <a:off x="8257032" y="2103120"/>
            <a:ext cx="2880360" cy="228600"/>
          </a:xfrm>
          <a:prstGeom prst="rect">
            <a:avLst/>
          </a:prstGeom>
          <a:noFill/>
          <a:ln/>
        </p:spPr>
        <p:txBody>
          <a:bodyPr wrap="square" rtlCol="0" anchor="ctr"/>
          <a:lstStyle/>
          <a:p>
            <a:pPr indent="0" marL="0">
              <a:buNone/>
            </a:pPr>
            <a:r>
              <a:rPr lang="en-US" sz="950" b="1" spc="120" kern="0" dirty="0">
                <a:solidFill>
                  <a:srgbClr val="2563EB"/>
                </a:solidFill>
                <a:latin typeface="Arial" pitchFamily="34" charset="0"/>
                <a:ea typeface="Arial" pitchFamily="34" charset="-122"/>
                <a:cs typeface="Arial" pitchFamily="34" charset="-120"/>
              </a:rPr>
              <a:t>3. KONTEKS &amp; PENGALAMAN</a:t>
            </a:r>
            <a:endParaRPr lang="en-US" sz="950" dirty="0"/>
          </a:p>
        </p:txBody>
      </p:sp>
      <p:sp>
        <p:nvSpPr>
          <p:cNvPr id="19" name="Text 17"/>
          <p:cNvSpPr/>
          <p:nvPr/>
        </p:nvSpPr>
        <p:spPr>
          <a:xfrm>
            <a:off x="8257032" y="2331720"/>
            <a:ext cx="288036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Pengaruh Ekspektasi &amp; Emosi</a:t>
            </a:r>
            <a:endParaRPr lang="en-US" sz="1400" dirty="0"/>
          </a:p>
        </p:txBody>
      </p:sp>
      <p:sp>
        <p:nvSpPr>
          <p:cNvPr id="20" name="Shape 18"/>
          <p:cNvSpPr/>
          <p:nvPr/>
        </p:nvSpPr>
        <p:spPr>
          <a:xfrm>
            <a:off x="8257032" y="2697480"/>
            <a:ext cx="1645920" cy="228600"/>
          </a:xfrm>
          <a:prstGeom prst="roundRect">
            <a:avLst>
              <a:gd name="adj" fmla="val 20000"/>
            </a:avLst>
          </a:prstGeom>
          <a:solidFill>
            <a:srgbClr val="F8FAFC"/>
          </a:solidFill>
          <a:ln w="12700">
            <a:solidFill>
              <a:srgbClr val="E2E8F0"/>
            </a:solidFill>
            <a:prstDash val="solid"/>
          </a:ln>
        </p:spPr>
      </p:sp>
      <p:sp>
        <p:nvSpPr>
          <p:cNvPr id="21" name="Text 19"/>
          <p:cNvSpPr/>
          <p:nvPr/>
        </p:nvSpPr>
        <p:spPr>
          <a:xfrm>
            <a:off x="8257032" y="2715768"/>
            <a:ext cx="1645920" cy="201168"/>
          </a:xfrm>
          <a:prstGeom prst="rect">
            <a:avLst/>
          </a:prstGeom>
          <a:noFill/>
          <a:ln/>
        </p:spPr>
        <p:txBody>
          <a:bodyPr wrap="square" rtlCol="0" anchor="ctr"/>
          <a:lstStyle/>
          <a:p>
            <a:pPr algn="ctr" indent="0" marL="0">
              <a:buNone/>
            </a:pPr>
            <a:r>
              <a:rPr lang="en-US" sz="850" b="1" dirty="0">
                <a:solidFill>
                  <a:srgbClr val="2563EB"/>
                </a:solidFill>
                <a:latin typeface="Calibri" pitchFamily="34" charset="0"/>
                <a:ea typeface="Calibri" pitchFamily="34" charset="-122"/>
                <a:cs typeface="Calibri" pitchFamily="34" charset="-120"/>
              </a:rPr>
              <a:t>Modulasi Top-Down</a:t>
            </a:r>
            <a:endParaRPr lang="en-US" sz="850" dirty="0"/>
          </a:p>
        </p:txBody>
      </p:sp>
      <p:sp>
        <p:nvSpPr>
          <p:cNvPr id="22" name="Text 20"/>
          <p:cNvSpPr/>
          <p:nvPr/>
        </p:nvSpPr>
        <p:spPr>
          <a:xfrm>
            <a:off x="8257032" y="3063240"/>
            <a:ext cx="2880360" cy="2377440"/>
          </a:xfrm>
          <a:prstGeom prst="rect">
            <a:avLst/>
          </a:prstGeom>
          <a:noFill/>
          <a:ln/>
        </p:spPr>
        <p:txBody>
          <a:bodyPr wrap="square" rtlCol="0" anchor="ctr"/>
          <a:lstStyle/>
          <a:p>
            <a:pPr indent="0" marL="0">
              <a:lnSpc>
                <a:spcPts val="1400"/>
              </a:lnSpc>
              <a:buNone/>
            </a:pPr>
            <a:r>
              <a:rPr lang="en-US" sz="1000" dirty="0">
                <a:solidFill>
                  <a:srgbClr val="475569"/>
                </a:solidFill>
                <a:latin typeface="Calibri" pitchFamily="34" charset="0"/>
                <a:ea typeface="Calibri" pitchFamily="34" charset="-122"/>
                <a:cs typeface="Calibri" pitchFamily="34" charset="-120"/>
              </a:rPr>
              <a:t>• Pengalaman masa lalu, suasana hati, rasa takut, dan sugesti lingkungan sangat mempengaruhi interpretasi visual kita.
• Di tempat gelap atau saat takut, ambang deteksi wajah menurun drastis sehingga gantungan baju tampak seperti sosok manusia.
• Sugesti sosial: Jika seseorang berkata "Lihat awan itu mirip kelinci", otak kita langsung mencocokkannya.
</a:t>
            </a:r>
            <a:endParaRPr lang="en-US" sz="1000" dirty="0"/>
          </a:p>
        </p:txBody>
      </p:sp>
      <p:sp>
        <p:nvSpPr>
          <p:cNvPr id="23" name="Shape 21"/>
          <p:cNvSpPr/>
          <p:nvPr/>
        </p:nvSpPr>
        <p:spPr>
          <a:xfrm>
            <a:off x="822960" y="5715000"/>
            <a:ext cx="10545775" cy="502920"/>
          </a:xfrm>
          <a:prstGeom prst="roundRect">
            <a:avLst>
              <a:gd name="adj" fmla="val 14545"/>
            </a:avLst>
          </a:prstGeom>
          <a:solidFill>
            <a:srgbClr val="FFFFFF"/>
          </a:solidFill>
          <a:ln w="12700">
            <a:solidFill>
              <a:srgbClr val="E2E8F0"/>
            </a:solidFill>
            <a:prstDash val="solid"/>
          </a:ln>
        </p:spPr>
      </p:sp>
      <p:sp>
        <p:nvSpPr>
          <p:cNvPr id="24" name="Text 22"/>
          <p:cNvSpPr/>
          <p:nvPr/>
        </p:nvSpPr>
        <p:spPr>
          <a:xfrm>
            <a:off x="1051560" y="5779008"/>
            <a:ext cx="10058400" cy="365760"/>
          </a:xfrm>
          <a:prstGeom prst="rect">
            <a:avLst/>
          </a:prstGeom>
          <a:noFill/>
          <a:ln/>
        </p:spPr>
        <p:txBody>
          <a:bodyPr wrap="square"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CATATAN METODOLOGI: </a:t>
            </a:r>
            <a:pPr indent="0" marL="0">
              <a:buNone/>
            </a:pPr>
            <a:r>
              <a:rPr lang="en-US" sz="950" i="1" dirty="0">
                <a:solidFill>
                  <a:srgbClr val="475569"/>
                </a:solidFill>
                <a:latin typeface="Calibri" pitchFamily="34" charset="0"/>
                <a:ea typeface="Calibri" pitchFamily="34" charset="-122"/>
                <a:cs typeface="Calibri" pitchFamily="34" charset="-120"/>
              </a:rPr>
              <a:t>Aktivasi sirkuit penglihatan di FFA adalah fakta neurologis yang terbukti di laboratorium, sedangkan penjelasan keunggulan bertahan hidup adalah hipotesis evolusioner terkuat yang didukung para ilmuwan.</a:t>
            </a:r>
            <a:endParaRPr lang="en-US" sz="950" dirty="0"/>
          </a:p>
        </p:txBody>
      </p:sp>
      <p:sp>
        <p:nvSpPr>
          <p:cNvPr id="25" name="Shape 23"/>
          <p:cNvSpPr/>
          <p:nvPr/>
        </p:nvSpPr>
        <p:spPr>
          <a:xfrm>
            <a:off x="822960" y="6400800"/>
            <a:ext cx="10545775" cy="0"/>
          </a:xfrm>
          <a:prstGeom prst="line">
            <a:avLst/>
          </a:prstGeom>
          <a:noFill/>
          <a:ln w="12700">
            <a:solidFill>
              <a:srgbClr val="E2E8F0"/>
            </a:solidFill>
            <a:prstDash val="solid"/>
          </a:ln>
        </p:spPr>
      </p:sp>
      <p:sp>
        <p:nvSpPr>
          <p:cNvPr id="26" name="Text 24"/>
          <p:cNvSpPr/>
          <p:nvPr/>
        </p:nvSpPr>
        <p:spPr>
          <a:xfrm>
            <a:off x="822960" y="6446520"/>
            <a:ext cx="82296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Fenomena Pareidolia • Tugas Presentasi Kelompok Kelas IX E • [Nama Sekolah]</a:t>
            </a:r>
            <a:endParaRPr lang="en-US" sz="900" dirty="0"/>
          </a:p>
        </p:txBody>
      </p:sp>
      <p:sp>
        <p:nvSpPr>
          <p:cNvPr id="27" name="Text 25"/>
          <p:cNvSpPr/>
          <p:nvPr/>
        </p:nvSpPr>
        <p:spPr>
          <a:xfrm>
            <a:off x="9601200" y="6446520"/>
            <a:ext cx="1767535" cy="274320"/>
          </a:xfrm>
          <a:prstGeom prst="rect">
            <a:avLst/>
          </a:prstGeom>
          <a:noFill/>
          <a:ln/>
        </p:spPr>
        <p:txBody>
          <a:bodyPr wrap="square" rtlCol="0" anchor="ctr"/>
          <a:lstStyle/>
          <a:p>
            <a:pPr algn="r" indent="0" marL="0">
              <a:buNone/>
            </a:pPr>
            <a:r>
              <a:rPr lang="en-US" sz="900" b="1" dirty="0">
                <a:solidFill>
                  <a:srgbClr val="D97706"/>
                </a:solidFill>
                <a:latin typeface="Arial" pitchFamily="34" charset="0"/>
                <a:ea typeface="Arial" pitchFamily="34" charset="-122"/>
                <a:cs typeface="Arial" pitchFamily="34" charset="-120"/>
              </a:rPr>
              <a:t>Slide 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22960" y="502920"/>
            <a:ext cx="10515600" cy="256032"/>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BUKTI LABORATORIUM • RISET TERVERIFIKASI</a:t>
            </a:r>
            <a:endParaRPr lang="en-US" sz="1000" dirty="0"/>
          </a:p>
        </p:txBody>
      </p:sp>
      <p:sp>
        <p:nvSpPr>
          <p:cNvPr id="3" name="Text 1"/>
          <p:cNvSpPr/>
          <p:nvPr/>
        </p:nvSpPr>
        <p:spPr>
          <a:xfrm>
            <a:off x="822960" y="77724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Penjelasan Berdasarkan Penelitian Ilmiah</a:t>
            </a:r>
            <a:endParaRPr lang="en-US" sz="2400" dirty="0"/>
          </a:p>
        </p:txBody>
      </p:sp>
      <p:sp>
        <p:nvSpPr>
          <p:cNvPr id="4" name="Text 2"/>
          <p:cNvSpPr/>
          <p:nvPr/>
        </p:nvSpPr>
        <p:spPr>
          <a:xfrm>
            <a:off x="822960" y="1389888"/>
            <a:ext cx="10515600" cy="32004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Studi mutakhir menggunakan fMRI dan MEG membuktikan pareidolia adalah proses sensorik nyata di otak.</a:t>
            </a:r>
            <a:endParaRPr lang="en-US" sz="1200" dirty="0"/>
          </a:p>
        </p:txBody>
      </p:sp>
      <p:sp>
        <p:nvSpPr>
          <p:cNvPr id="5" name="Shape 3"/>
          <p:cNvSpPr/>
          <p:nvPr/>
        </p:nvSpPr>
        <p:spPr>
          <a:xfrm>
            <a:off x="822960" y="1920240"/>
            <a:ext cx="3337560" cy="4251960"/>
          </a:xfrm>
          <a:prstGeom prst="roundRect">
            <a:avLst>
              <a:gd name="adj" fmla="val 3288"/>
            </a:avLst>
          </a:prstGeom>
          <a:solidFill>
            <a:srgbClr val="FFFFFF"/>
          </a:solidFill>
          <a:ln w="12700">
            <a:solidFill>
              <a:srgbClr val="E2E8F0"/>
            </a:solidFill>
            <a:prstDash val="solid"/>
          </a:ln>
        </p:spPr>
      </p:sp>
      <p:sp>
        <p:nvSpPr>
          <p:cNvPr id="6" name="Text 4"/>
          <p:cNvSpPr/>
          <p:nvPr/>
        </p:nvSpPr>
        <p:spPr>
          <a:xfrm>
            <a:off x="1005840" y="2057400"/>
            <a:ext cx="2971800" cy="228600"/>
          </a:xfrm>
          <a:prstGeom prst="rect">
            <a:avLst/>
          </a:prstGeom>
          <a:noFill/>
          <a:ln/>
        </p:spPr>
        <p:txBody>
          <a:bodyPr wrap="square" rtlCol="0" anchor="ctr"/>
          <a:lstStyle/>
          <a:p>
            <a:pPr indent="0" marL="0">
              <a:buNone/>
            </a:pPr>
            <a:r>
              <a:rPr lang="en-US" sz="850" b="1" spc="100" kern="0" dirty="0">
                <a:solidFill>
                  <a:srgbClr val="D97706"/>
                </a:solidFill>
                <a:latin typeface="Arial" pitchFamily="34" charset="0"/>
                <a:ea typeface="Arial" pitchFamily="34" charset="-122"/>
                <a:cs typeface="Arial" pitchFamily="34" charset="-120"/>
              </a:rPr>
              <a:t>RISET 1 • NATURE COMMUNICATIONS (2020)</a:t>
            </a:r>
            <a:endParaRPr lang="en-US" sz="850" dirty="0"/>
          </a:p>
        </p:txBody>
      </p:sp>
      <p:sp>
        <p:nvSpPr>
          <p:cNvPr id="7" name="Text 5"/>
          <p:cNvSpPr/>
          <p:nvPr/>
        </p:nvSpPr>
        <p:spPr>
          <a:xfrm>
            <a:off x="1005840" y="2286000"/>
            <a:ext cx="2971800" cy="411480"/>
          </a:xfrm>
          <a:prstGeom prst="rect">
            <a:avLst/>
          </a:prstGeom>
          <a:noFill/>
          <a:ln/>
        </p:spPr>
        <p:txBody>
          <a:bodyPr wrap="square" rtlCol="0" anchor="ctr"/>
          <a:lstStyle/>
          <a:p>
            <a:pPr indent="0" marL="0">
              <a:lnSpc>
                <a:spcPts val="1600"/>
              </a:lnSpc>
              <a:buNone/>
            </a:pPr>
            <a:r>
              <a:rPr lang="en-US" sz="1300" b="1" dirty="0">
                <a:solidFill>
                  <a:srgbClr val="0F172A"/>
                </a:solidFill>
                <a:latin typeface="Arial" pitchFamily="34" charset="0"/>
                <a:ea typeface="Arial" pitchFamily="34" charset="-122"/>
                <a:cs typeface="Arial" pitchFamily="34" charset="-120"/>
              </a:rPr>
              <a:t>Pemrosesan Cepat &amp; Dinamis di Otak</a:t>
            </a:r>
            <a:endParaRPr lang="en-US" sz="1300" dirty="0"/>
          </a:p>
        </p:txBody>
      </p:sp>
      <p:sp>
        <p:nvSpPr>
          <p:cNvPr id="8" name="Text 6"/>
          <p:cNvSpPr/>
          <p:nvPr/>
        </p:nvSpPr>
        <p:spPr>
          <a:xfrm>
            <a:off x="1005840" y="2743200"/>
            <a:ext cx="2971800" cy="594360"/>
          </a:xfrm>
          <a:prstGeom prst="rect">
            <a:avLst/>
          </a:prstGeom>
          <a:noFill/>
          <a:ln/>
        </p:spPr>
        <p:txBody>
          <a:bodyPr wrap="square" rtlCol="0" anchor="ctr"/>
          <a:lstStyle/>
          <a:p>
            <a:pPr indent="0" marL="0">
              <a:lnSpc>
                <a:spcPts val="1200"/>
              </a:lnSpc>
              <a:buNone/>
            </a:pPr>
            <a:r>
              <a:rPr lang="en-US" sz="900" b="1" dirty="0">
                <a:solidFill>
                  <a:srgbClr val="0F172A"/>
                </a:solidFill>
                <a:latin typeface="Calibri" pitchFamily="34" charset="0"/>
                <a:ea typeface="Calibri" pitchFamily="34" charset="-122"/>
                <a:cs typeface="Calibri" pitchFamily="34" charset="-120"/>
              </a:rPr>
              <a:t>Susan G. Wardle, J. Taubert, L. Teichmann, &amp; C. I. Baker
</a:t>
            </a:r>
            <a:pPr indent="0" marL="0">
              <a:lnSpc>
                <a:spcPts val="1200"/>
              </a:lnSpc>
              <a:buNone/>
            </a:pPr>
            <a:r>
              <a:rPr lang="en-US" sz="900" i="1" dirty="0">
                <a:solidFill>
                  <a:srgbClr val="64748B"/>
                </a:solidFill>
                <a:latin typeface="Calibri" pitchFamily="34" charset="0"/>
                <a:ea typeface="Calibri" pitchFamily="34" charset="-122"/>
                <a:cs typeface="Calibri" pitchFamily="34" charset="-120"/>
              </a:rPr>
              <a:t>National Institutes of Health (NIH), Amerika Serikat
</a:t>
            </a:r>
            <a:endParaRPr lang="en-US" sz="900" dirty="0"/>
          </a:p>
        </p:txBody>
      </p:sp>
      <p:sp>
        <p:nvSpPr>
          <p:cNvPr id="9" name="Shape 7"/>
          <p:cNvSpPr/>
          <p:nvPr/>
        </p:nvSpPr>
        <p:spPr>
          <a:xfrm>
            <a:off x="1005840" y="3383280"/>
            <a:ext cx="2971800" cy="0"/>
          </a:xfrm>
          <a:prstGeom prst="line">
            <a:avLst/>
          </a:prstGeom>
          <a:noFill/>
          <a:ln w="12700">
            <a:solidFill>
              <a:srgbClr val="E2E8F0"/>
            </a:solidFill>
            <a:prstDash val="solid"/>
          </a:ln>
        </p:spPr>
      </p:sp>
      <p:sp>
        <p:nvSpPr>
          <p:cNvPr id="10" name="Text 8"/>
          <p:cNvSpPr/>
          <p:nvPr/>
        </p:nvSpPr>
        <p:spPr>
          <a:xfrm>
            <a:off x="1005840" y="3474720"/>
            <a:ext cx="2971800" cy="2194560"/>
          </a:xfrm>
          <a:prstGeom prst="rect">
            <a:avLst/>
          </a:prstGeom>
          <a:noFill/>
          <a:ln/>
        </p:spPr>
        <p:txBody>
          <a:bodyPr wrap="square" rtlCol="0" anchor="ctr"/>
          <a:lstStyle/>
          <a:p>
            <a:pPr indent="0" marL="0">
              <a:lnSpc>
                <a:spcPts val="1300"/>
              </a:lnSpc>
              <a:buNone/>
            </a:pPr>
            <a:r>
              <a:rPr lang="en-US" sz="950" b="1" dirty="0">
                <a:solidFill>
                  <a:srgbClr val="D97706"/>
                </a:solidFill>
                <a:latin typeface="Calibri" pitchFamily="34" charset="0"/>
                <a:ea typeface="Calibri" pitchFamily="34" charset="-122"/>
                <a:cs typeface="Calibri" pitchFamily="34" charset="-120"/>
              </a:rPr>
              <a:t>Metodologi:
</a:t>
            </a:r>
            <a:pPr indent="0" marL="0">
              <a:lnSpc>
                <a:spcPts val="1300"/>
              </a:lnSpc>
              <a:buNone/>
            </a:pPr>
            <a:r>
              <a:rPr lang="en-US" sz="950" dirty="0">
                <a:solidFill>
                  <a:srgbClr val="475569"/>
                </a:solidFill>
                <a:latin typeface="Calibri" pitchFamily="34" charset="0"/>
                <a:ea typeface="Calibri" pitchFamily="34" charset="-122"/>
                <a:cs typeface="Calibri" pitchFamily="34" charset="-120"/>
              </a:rPr>
              <a:t>Eksperimen fMRI dan MEG resolusi tinggi mengukur respon otak terhadap ilusi wajah vs wajah asli vs benda kontrol.
</a:t>
            </a:r>
            <a:pPr indent="0" marL="0">
              <a:lnSpc>
                <a:spcPts val="1300"/>
              </a:lnSpc>
              <a:buNone/>
            </a:pPr>
            <a:r>
              <a:rPr lang="en-US" sz="950" b="1" dirty="0">
                <a:solidFill>
                  <a:srgbClr val="D97706"/>
                </a:solidFill>
                <a:latin typeface="Calibri" pitchFamily="34" charset="0"/>
                <a:ea typeface="Calibri" pitchFamily="34" charset="-122"/>
                <a:cs typeface="Calibri" pitchFamily="34" charset="-120"/>
              </a:rPr>
              <a:t>Temuan Utama: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Pada fraksi awal (&lt;250 ms), representasi neural memperlakukan objek pareidolia sama seperti wajah manusia asli. Baru setelah 250 ms, otak beralih mengklasifikasikannya sebagai benda mati biasa.</a:t>
            </a:r>
            <a:endParaRPr lang="en-US" sz="950" dirty="0"/>
          </a:p>
        </p:txBody>
      </p:sp>
      <p:sp>
        <p:nvSpPr>
          <p:cNvPr id="11" name="Text 9"/>
          <p:cNvSpPr/>
          <p:nvPr/>
        </p:nvSpPr>
        <p:spPr>
          <a:xfrm>
            <a:off x="1005840" y="5806440"/>
            <a:ext cx="2971800" cy="22860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DOI: 10.1038/s41467-020-18325-8</a:t>
            </a:r>
            <a:endParaRPr lang="en-US" sz="800" dirty="0"/>
          </a:p>
        </p:txBody>
      </p:sp>
      <p:sp>
        <p:nvSpPr>
          <p:cNvPr id="12" name="Shape 10"/>
          <p:cNvSpPr/>
          <p:nvPr/>
        </p:nvSpPr>
        <p:spPr>
          <a:xfrm>
            <a:off x="4425696" y="1920240"/>
            <a:ext cx="3337560" cy="4251960"/>
          </a:xfrm>
          <a:prstGeom prst="roundRect">
            <a:avLst>
              <a:gd name="adj" fmla="val 3288"/>
            </a:avLst>
          </a:prstGeom>
          <a:solidFill>
            <a:srgbClr val="FFFFFF"/>
          </a:solidFill>
          <a:ln w="12700">
            <a:solidFill>
              <a:srgbClr val="E2E8F0"/>
            </a:solidFill>
            <a:prstDash val="solid"/>
          </a:ln>
        </p:spPr>
      </p:sp>
      <p:sp>
        <p:nvSpPr>
          <p:cNvPr id="13" name="Text 11"/>
          <p:cNvSpPr/>
          <p:nvPr/>
        </p:nvSpPr>
        <p:spPr>
          <a:xfrm>
            <a:off x="4608576" y="2057400"/>
            <a:ext cx="2971800" cy="228600"/>
          </a:xfrm>
          <a:prstGeom prst="rect">
            <a:avLst/>
          </a:prstGeom>
          <a:noFill/>
          <a:ln/>
        </p:spPr>
        <p:txBody>
          <a:bodyPr wrap="square" rtlCol="0" anchor="ctr"/>
          <a:lstStyle/>
          <a:p>
            <a:pPr indent="0" marL="0">
              <a:buNone/>
            </a:pPr>
            <a:r>
              <a:rPr lang="en-US" sz="850" b="1" spc="100" kern="0" dirty="0">
                <a:solidFill>
                  <a:srgbClr val="0D9488"/>
                </a:solidFill>
                <a:latin typeface="Arial" pitchFamily="34" charset="0"/>
                <a:ea typeface="Arial" pitchFamily="34" charset="-122"/>
                <a:cs typeface="Arial" pitchFamily="34" charset="-120"/>
              </a:rPr>
              <a:t>RISET 2 • PSYCHOLOGICAL SCIENCE (2020)</a:t>
            </a:r>
            <a:endParaRPr lang="en-US" sz="850" dirty="0"/>
          </a:p>
        </p:txBody>
      </p:sp>
      <p:sp>
        <p:nvSpPr>
          <p:cNvPr id="14" name="Text 12"/>
          <p:cNvSpPr/>
          <p:nvPr/>
        </p:nvSpPr>
        <p:spPr>
          <a:xfrm>
            <a:off x="4608576" y="2286000"/>
            <a:ext cx="2971800" cy="411480"/>
          </a:xfrm>
          <a:prstGeom prst="rect">
            <a:avLst/>
          </a:prstGeom>
          <a:noFill/>
          <a:ln/>
        </p:spPr>
        <p:txBody>
          <a:bodyPr wrap="square" rtlCol="0" anchor="ctr"/>
          <a:lstStyle/>
          <a:p>
            <a:pPr indent="0" marL="0">
              <a:lnSpc>
                <a:spcPts val="1600"/>
              </a:lnSpc>
              <a:buNone/>
            </a:pPr>
            <a:r>
              <a:rPr lang="en-US" sz="1300" b="1" dirty="0">
                <a:solidFill>
                  <a:srgbClr val="0F172A"/>
                </a:solidFill>
                <a:latin typeface="Arial" pitchFamily="34" charset="0"/>
                <a:ea typeface="Arial" pitchFamily="34" charset="-122"/>
                <a:cs typeface="Arial" pitchFamily="34" charset="-120"/>
              </a:rPr>
              <a:t>Merekrut Mekanisme Perhatian Sosial</a:t>
            </a:r>
            <a:endParaRPr lang="en-US" sz="1300" dirty="0"/>
          </a:p>
        </p:txBody>
      </p:sp>
      <p:sp>
        <p:nvSpPr>
          <p:cNvPr id="15" name="Text 13"/>
          <p:cNvSpPr/>
          <p:nvPr/>
        </p:nvSpPr>
        <p:spPr>
          <a:xfrm>
            <a:off x="4608576" y="2743200"/>
            <a:ext cx="2971800" cy="594360"/>
          </a:xfrm>
          <a:prstGeom prst="rect">
            <a:avLst/>
          </a:prstGeom>
          <a:noFill/>
          <a:ln/>
        </p:spPr>
        <p:txBody>
          <a:bodyPr wrap="square" rtlCol="0" anchor="ctr"/>
          <a:lstStyle/>
          <a:p>
            <a:pPr indent="0" marL="0">
              <a:lnSpc>
                <a:spcPts val="1200"/>
              </a:lnSpc>
              <a:buNone/>
            </a:pPr>
            <a:r>
              <a:rPr lang="en-US" sz="900" b="1" dirty="0">
                <a:solidFill>
                  <a:srgbClr val="0F172A"/>
                </a:solidFill>
                <a:latin typeface="Calibri" pitchFamily="34" charset="0"/>
                <a:ea typeface="Calibri" pitchFamily="34" charset="-122"/>
                <a:cs typeface="Calibri" pitchFamily="34" charset="-120"/>
              </a:rPr>
              <a:t>Colin J. Palmer &amp; Colin W. G. Clifford
</a:t>
            </a:r>
            <a:pPr indent="0" marL="0">
              <a:lnSpc>
                <a:spcPts val="1200"/>
              </a:lnSpc>
              <a:buNone/>
            </a:pPr>
            <a:r>
              <a:rPr lang="en-US" sz="900" i="1" dirty="0">
                <a:solidFill>
                  <a:srgbClr val="64748B"/>
                </a:solidFill>
                <a:latin typeface="Calibri" pitchFamily="34" charset="0"/>
                <a:ea typeface="Calibri" pitchFamily="34" charset="-122"/>
                <a:cs typeface="Calibri" pitchFamily="34" charset="-120"/>
              </a:rPr>
              <a:t>University of New South Wales (UNSW), Australia
</a:t>
            </a:r>
            <a:endParaRPr lang="en-US" sz="900" dirty="0"/>
          </a:p>
        </p:txBody>
      </p:sp>
      <p:sp>
        <p:nvSpPr>
          <p:cNvPr id="16" name="Shape 14"/>
          <p:cNvSpPr/>
          <p:nvPr/>
        </p:nvSpPr>
        <p:spPr>
          <a:xfrm>
            <a:off x="4608576" y="3383280"/>
            <a:ext cx="2971800" cy="0"/>
          </a:xfrm>
          <a:prstGeom prst="line">
            <a:avLst/>
          </a:prstGeom>
          <a:noFill/>
          <a:ln w="12700">
            <a:solidFill>
              <a:srgbClr val="E2E8F0"/>
            </a:solidFill>
            <a:prstDash val="solid"/>
          </a:ln>
        </p:spPr>
      </p:sp>
      <p:sp>
        <p:nvSpPr>
          <p:cNvPr id="17" name="Text 15"/>
          <p:cNvSpPr/>
          <p:nvPr/>
        </p:nvSpPr>
        <p:spPr>
          <a:xfrm>
            <a:off x="4608576" y="3474720"/>
            <a:ext cx="2971800" cy="2194560"/>
          </a:xfrm>
          <a:prstGeom prst="rect">
            <a:avLst/>
          </a:prstGeom>
          <a:noFill/>
          <a:ln/>
        </p:spPr>
        <p:txBody>
          <a:bodyPr wrap="square" rtlCol="0" anchor="ctr"/>
          <a:lstStyle/>
          <a:p>
            <a:pPr indent="0" marL="0">
              <a:lnSpc>
                <a:spcPts val="1300"/>
              </a:lnSpc>
              <a:buNone/>
            </a:pPr>
            <a:r>
              <a:rPr lang="en-US" sz="950" b="1" dirty="0">
                <a:solidFill>
                  <a:srgbClr val="0D9488"/>
                </a:solidFill>
                <a:latin typeface="Calibri" pitchFamily="34" charset="0"/>
                <a:ea typeface="Calibri" pitchFamily="34" charset="-122"/>
                <a:cs typeface="Calibri" pitchFamily="34" charset="-120"/>
              </a:rPr>
              <a:t>Metodologi:
</a:t>
            </a:r>
            <a:pPr indent="0" marL="0">
              <a:lnSpc>
                <a:spcPts val="1300"/>
              </a:lnSpc>
              <a:buNone/>
            </a:pPr>
            <a:r>
              <a:rPr lang="en-US" sz="950" dirty="0">
                <a:solidFill>
                  <a:srgbClr val="475569"/>
                </a:solidFill>
                <a:latin typeface="Calibri" pitchFamily="34" charset="0"/>
                <a:ea typeface="Calibri" pitchFamily="34" charset="-122"/>
                <a:cs typeface="Calibri" pitchFamily="34" charset="-120"/>
              </a:rPr>
              <a:t>Eksperimen sensory adaptation terhadap arah tatapan mata pada berbagai objek pareidolia di kehidupan sehari-hari.
</a:t>
            </a:r>
            <a:pPr indent="0" marL="0">
              <a:lnSpc>
                <a:spcPts val="1300"/>
              </a:lnSpc>
              <a:buNone/>
            </a:pPr>
            <a:r>
              <a:rPr lang="en-US" sz="950" b="1" dirty="0">
                <a:solidFill>
                  <a:srgbClr val="0D9488"/>
                </a:solidFill>
                <a:latin typeface="Calibri" pitchFamily="34" charset="0"/>
                <a:ea typeface="Calibri" pitchFamily="34" charset="-122"/>
                <a:cs typeface="Calibri" pitchFamily="34" charset="-120"/>
              </a:rPr>
              <a:t>Temuan Utama: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Pareidolia wajah mengaktifkan sirkuit pengolahan perhatian sosial (social attention) yang sama seperti wajah manusia nyata. Kita secara refleks dapat membaca arah tatapan dan emosi dari benda mati.</a:t>
            </a:r>
            <a:endParaRPr lang="en-US" sz="950" dirty="0"/>
          </a:p>
        </p:txBody>
      </p:sp>
      <p:sp>
        <p:nvSpPr>
          <p:cNvPr id="18" name="Text 16"/>
          <p:cNvSpPr/>
          <p:nvPr/>
        </p:nvSpPr>
        <p:spPr>
          <a:xfrm>
            <a:off x="4608576" y="5806440"/>
            <a:ext cx="2971800" cy="22860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DOI: 10.1177/0956797620924814</a:t>
            </a:r>
            <a:endParaRPr lang="en-US" sz="800" dirty="0"/>
          </a:p>
        </p:txBody>
      </p:sp>
      <p:sp>
        <p:nvSpPr>
          <p:cNvPr id="19" name="Shape 17"/>
          <p:cNvSpPr/>
          <p:nvPr/>
        </p:nvSpPr>
        <p:spPr>
          <a:xfrm>
            <a:off x="8028432" y="1920240"/>
            <a:ext cx="3337560" cy="4251960"/>
          </a:xfrm>
          <a:prstGeom prst="roundRect">
            <a:avLst>
              <a:gd name="adj" fmla="val 3288"/>
            </a:avLst>
          </a:prstGeom>
          <a:solidFill>
            <a:srgbClr val="FFFFFF"/>
          </a:solidFill>
          <a:ln w="12700">
            <a:solidFill>
              <a:srgbClr val="E2E8F0"/>
            </a:solidFill>
            <a:prstDash val="solid"/>
          </a:ln>
        </p:spPr>
      </p:sp>
      <p:sp>
        <p:nvSpPr>
          <p:cNvPr id="20" name="Text 18"/>
          <p:cNvSpPr/>
          <p:nvPr/>
        </p:nvSpPr>
        <p:spPr>
          <a:xfrm>
            <a:off x="8211312" y="2057400"/>
            <a:ext cx="2971800" cy="228600"/>
          </a:xfrm>
          <a:prstGeom prst="rect">
            <a:avLst/>
          </a:prstGeom>
          <a:noFill/>
          <a:ln/>
        </p:spPr>
        <p:txBody>
          <a:bodyPr wrap="square" rtlCol="0" anchor="ctr"/>
          <a:lstStyle/>
          <a:p>
            <a:pPr indent="0" marL="0">
              <a:buNone/>
            </a:pPr>
            <a:r>
              <a:rPr lang="en-US" sz="850" b="1" spc="100" kern="0" dirty="0">
                <a:solidFill>
                  <a:srgbClr val="2563EB"/>
                </a:solidFill>
                <a:latin typeface="Arial" pitchFamily="34" charset="0"/>
                <a:ea typeface="Arial" pitchFamily="34" charset="-122"/>
                <a:cs typeface="Arial" pitchFamily="34" charset="-120"/>
              </a:rPr>
              <a:t>RISET 3 • NEUROREPORT (2009)</a:t>
            </a:r>
            <a:endParaRPr lang="en-US" sz="850" dirty="0"/>
          </a:p>
        </p:txBody>
      </p:sp>
      <p:sp>
        <p:nvSpPr>
          <p:cNvPr id="21" name="Text 19"/>
          <p:cNvSpPr/>
          <p:nvPr/>
        </p:nvSpPr>
        <p:spPr>
          <a:xfrm>
            <a:off x="8211312" y="2286000"/>
            <a:ext cx="2971800" cy="411480"/>
          </a:xfrm>
          <a:prstGeom prst="rect">
            <a:avLst/>
          </a:prstGeom>
          <a:noFill/>
          <a:ln/>
        </p:spPr>
        <p:txBody>
          <a:bodyPr wrap="square" rtlCol="0" anchor="ctr"/>
          <a:lstStyle/>
          <a:p>
            <a:pPr indent="0" marL="0">
              <a:lnSpc>
                <a:spcPts val="1600"/>
              </a:lnSpc>
              <a:buNone/>
            </a:pPr>
            <a:r>
              <a:rPr lang="en-US" sz="1300" b="1" dirty="0">
                <a:solidFill>
                  <a:srgbClr val="0F172A"/>
                </a:solidFill>
                <a:latin typeface="Arial" pitchFamily="34" charset="0"/>
                <a:ea typeface="Arial" pitchFamily="34" charset="-122"/>
                <a:cs typeface="Arial" pitchFamily="34" charset="-120"/>
              </a:rPr>
              <a:t>Aktivasi Kilat M170 (~165 Milidetik)</a:t>
            </a:r>
            <a:endParaRPr lang="en-US" sz="1300" dirty="0"/>
          </a:p>
        </p:txBody>
      </p:sp>
      <p:sp>
        <p:nvSpPr>
          <p:cNvPr id="22" name="Text 20"/>
          <p:cNvSpPr/>
          <p:nvPr/>
        </p:nvSpPr>
        <p:spPr>
          <a:xfrm>
            <a:off x="8211312" y="2743200"/>
            <a:ext cx="2971800" cy="594360"/>
          </a:xfrm>
          <a:prstGeom prst="rect">
            <a:avLst/>
          </a:prstGeom>
          <a:noFill/>
          <a:ln/>
        </p:spPr>
        <p:txBody>
          <a:bodyPr wrap="square" rtlCol="0" anchor="ctr"/>
          <a:lstStyle/>
          <a:p>
            <a:pPr indent="0" marL="0">
              <a:lnSpc>
                <a:spcPts val="1200"/>
              </a:lnSpc>
              <a:buNone/>
            </a:pPr>
            <a:r>
              <a:rPr lang="en-US" sz="900" b="1" dirty="0">
                <a:solidFill>
                  <a:srgbClr val="0F172A"/>
                </a:solidFill>
                <a:latin typeface="Calibri" pitchFamily="34" charset="0"/>
                <a:ea typeface="Calibri" pitchFamily="34" charset="-122"/>
                <a:cs typeface="Calibri" pitchFamily="34" charset="-120"/>
              </a:rPr>
              <a:t>Nouchine Hadjikhani, K. Kveraga, P. Naik, &amp; S. P. Ahlfors
</a:t>
            </a:r>
            <a:pPr indent="0" marL="0">
              <a:lnSpc>
                <a:spcPts val="1200"/>
              </a:lnSpc>
              <a:buNone/>
            </a:pPr>
            <a:r>
              <a:rPr lang="en-US" sz="900" i="1" dirty="0">
                <a:solidFill>
                  <a:srgbClr val="64748B"/>
                </a:solidFill>
                <a:latin typeface="Calibri" pitchFamily="34" charset="0"/>
                <a:ea typeface="Calibri" pitchFamily="34" charset="-122"/>
                <a:cs typeface="Calibri" pitchFamily="34" charset="-120"/>
              </a:rPr>
              <a:t>Harvard Medical School &amp; Martinos Center, AS
</a:t>
            </a:r>
            <a:endParaRPr lang="en-US" sz="900" dirty="0"/>
          </a:p>
        </p:txBody>
      </p:sp>
      <p:sp>
        <p:nvSpPr>
          <p:cNvPr id="23" name="Shape 21"/>
          <p:cNvSpPr/>
          <p:nvPr/>
        </p:nvSpPr>
        <p:spPr>
          <a:xfrm>
            <a:off x="8211312" y="3383280"/>
            <a:ext cx="2971800" cy="0"/>
          </a:xfrm>
          <a:prstGeom prst="line">
            <a:avLst/>
          </a:prstGeom>
          <a:noFill/>
          <a:ln w="12700">
            <a:solidFill>
              <a:srgbClr val="E2E8F0"/>
            </a:solidFill>
            <a:prstDash val="solid"/>
          </a:ln>
        </p:spPr>
      </p:sp>
      <p:sp>
        <p:nvSpPr>
          <p:cNvPr id="24" name="Text 22"/>
          <p:cNvSpPr/>
          <p:nvPr/>
        </p:nvSpPr>
        <p:spPr>
          <a:xfrm>
            <a:off x="8211312" y="3474720"/>
            <a:ext cx="2971800" cy="2194560"/>
          </a:xfrm>
          <a:prstGeom prst="rect">
            <a:avLst/>
          </a:prstGeom>
          <a:noFill/>
          <a:ln/>
        </p:spPr>
        <p:txBody>
          <a:bodyPr wrap="square" rtlCol="0" anchor="ctr"/>
          <a:lstStyle/>
          <a:p>
            <a:pPr indent="0" marL="0">
              <a:lnSpc>
                <a:spcPts val="1300"/>
              </a:lnSpc>
              <a:buNone/>
            </a:pPr>
            <a:r>
              <a:rPr lang="en-US" sz="950" b="1" dirty="0">
                <a:solidFill>
                  <a:srgbClr val="2563EB"/>
                </a:solidFill>
                <a:latin typeface="Calibri" pitchFamily="34" charset="0"/>
                <a:ea typeface="Calibri" pitchFamily="34" charset="-122"/>
                <a:cs typeface="Calibri" pitchFamily="34" charset="-120"/>
              </a:rPr>
              <a:t>Metodologi:
</a:t>
            </a:r>
            <a:pPr indent="0" marL="0">
              <a:lnSpc>
                <a:spcPts val="1300"/>
              </a:lnSpc>
              <a:buNone/>
            </a:pPr>
            <a:r>
              <a:rPr lang="en-US" sz="950" dirty="0">
                <a:solidFill>
                  <a:srgbClr val="475569"/>
                </a:solidFill>
                <a:latin typeface="Calibri" pitchFamily="34" charset="0"/>
                <a:ea typeface="Calibri" pitchFamily="34" charset="-122"/>
                <a:cs typeface="Calibri" pitchFamily="34" charset="-120"/>
              </a:rPr>
              <a:t>Perekaman medan magnetik otak dengan Magnetoencephalography (MEG) saat melihat objek mirip wajah.
</a:t>
            </a:r>
            <a:pPr indent="0" marL="0">
              <a:lnSpc>
                <a:spcPts val="1300"/>
              </a:lnSpc>
              <a:buNone/>
            </a:pPr>
            <a:r>
              <a:rPr lang="en-US" sz="950" b="1" dirty="0">
                <a:solidFill>
                  <a:srgbClr val="2563EB"/>
                </a:solidFill>
                <a:latin typeface="Calibri" pitchFamily="34" charset="0"/>
                <a:ea typeface="Calibri" pitchFamily="34" charset="-122"/>
                <a:cs typeface="Calibri" pitchFamily="34" charset="-120"/>
              </a:rPr>
              <a:t>Temuan Utama: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Objek pareidolia memicu lonjakan sinyal M170 di ventral fusiform cortex hanya dalam 165 milidetik, membuktikan bahwa pareidolia adalah proses persepsi otomatis (bottom-up), bukan sekadar renungan logis.</a:t>
            </a:r>
            <a:endParaRPr lang="en-US" sz="950" dirty="0"/>
          </a:p>
        </p:txBody>
      </p:sp>
      <p:sp>
        <p:nvSpPr>
          <p:cNvPr id="25" name="Text 23"/>
          <p:cNvSpPr/>
          <p:nvPr/>
        </p:nvSpPr>
        <p:spPr>
          <a:xfrm>
            <a:off x="8211312" y="5806440"/>
            <a:ext cx="2971800" cy="22860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DOI: 10.1097/WNR.0b013e328325a8e1</a:t>
            </a:r>
            <a:endParaRPr lang="en-US" sz="800" dirty="0"/>
          </a:p>
        </p:txBody>
      </p:sp>
      <p:sp>
        <p:nvSpPr>
          <p:cNvPr id="26" name="Shape 24"/>
          <p:cNvSpPr/>
          <p:nvPr/>
        </p:nvSpPr>
        <p:spPr>
          <a:xfrm>
            <a:off x="822960" y="6400800"/>
            <a:ext cx="10545775" cy="0"/>
          </a:xfrm>
          <a:prstGeom prst="line">
            <a:avLst/>
          </a:prstGeom>
          <a:noFill/>
          <a:ln w="12700">
            <a:solidFill>
              <a:srgbClr val="E2E8F0"/>
            </a:solidFill>
            <a:prstDash val="solid"/>
          </a:ln>
        </p:spPr>
      </p:sp>
      <p:sp>
        <p:nvSpPr>
          <p:cNvPr id="27" name="Text 25"/>
          <p:cNvSpPr/>
          <p:nvPr/>
        </p:nvSpPr>
        <p:spPr>
          <a:xfrm>
            <a:off x="822960" y="6446520"/>
            <a:ext cx="82296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Fenomena Pareidolia • Tugas Presentasi Kelompok Kelas IX E • [Nama Sekolah]</a:t>
            </a:r>
            <a:endParaRPr lang="en-US" sz="900" dirty="0"/>
          </a:p>
        </p:txBody>
      </p:sp>
      <p:sp>
        <p:nvSpPr>
          <p:cNvPr id="28" name="Text 26"/>
          <p:cNvSpPr/>
          <p:nvPr/>
        </p:nvSpPr>
        <p:spPr>
          <a:xfrm>
            <a:off x="9601200" y="6446520"/>
            <a:ext cx="1767535" cy="274320"/>
          </a:xfrm>
          <a:prstGeom prst="rect">
            <a:avLst/>
          </a:prstGeom>
          <a:noFill/>
          <a:ln/>
        </p:spPr>
        <p:txBody>
          <a:bodyPr wrap="square" rtlCol="0" anchor="ctr"/>
          <a:lstStyle/>
          <a:p>
            <a:pPr algn="r" indent="0" marL="0">
              <a:buNone/>
            </a:pPr>
            <a:r>
              <a:rPr lang="en-US" sz="900" b="1" dirty="0">
                <a:solidFill>
                  <a:srgbClr val="D97706"/>
                </a:solidFill>
                <a:latin typeface="Arial" pitchFamily="34" charset="0"/>
                <a:ea typeface="Arial" pitchFamily="34" charset="-122"/>
                <a:cs typeface="Arial" pitchFamily="34" charset="-120"/>
              </a:rPr>
              <a:t>Slide 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822960" y="502920"/>
            <a:ext cx="10515600" cy="256032"/>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WAWASAN TAMBAHAN • STUDI KASUS UNIK</a:t>
            </a:r>
            <a:endParaRPr lang="en-US" sz="1000" dirty="0"/>
          </a:p>
        </p:txBody>
      </p:sp>
      <p:sp>
        <p:nvSpPr>
          <p:cNvPr id="3" name="Text 1"/>
          <p:cNvSpPr/>
          <p:nvPr/>
        </p:nvSpPr>
        <p:spPr>
          <a:xfrm>
            <a:off x="822960" y="77724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Fakta Menarik tentang Pareidolia</a:t>
            </a:r>
            <a:endParaRPr lang="en-US" sz="2400" dirty="0"/>
          </a:p>
        </p:txBody>
      </p:sp>
      <p:sp>
        <p:nvSpPr>
          <p:cNvPr id="4" name="Text 2"/>
          <p:cNvSpPr/>
          <p:nvPr/>
        </p:nvSpPr>
        <p:spPr>
          <a:xfrm>
            <a:off x="822960" y="1389888"/>
            <a:ext cx="10515600" cy="320040"/>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Dari primata di hutan, bukit di Planet Mars, hingga sistem kecerdasan buatan masa kini.</a:t>
            </a:r>
            <a:endParaRPr lang="en-US" sz="1200" dirty="0"/>
          </a:p>
        </p:txBody>
      </p:sp>
      <p:sp>
        <p:nvSpPr>
          <p:cNvPr id="5" name="Shape 3"/>
          <p:cNvSpPr/>
          <p:nvPr/>
        </p:nvSpPr>
        <p:spPr>
          <a:xfrm>
            <a:off x="822960" y="1920240"/>
            <a:ext cx="5166360" cy="2057400"/>
          </a:xfrm>
          <a:prstGeom prst="roundRect">
            <a:avLst>
              <a:gd name="adj" fmla="val 5333"/>
            </a:avLst>
          </a:prstGeom>
          <a:solidFill>
            <a:srgbClr val="FFFFFF"/>
          </a:solidFill>
          <a:ln w="12700">
            <a:solidFill>
              <a:srgbClr val="E2E8F0"/>
            </a:solidFill>
            <a:prstDash val="solid"/>
          </a:ln>
        </p:spPr>
      </p:sp>
      <p:sp>
        <p:nvSpPr>
          <p:cNvPr id="6" name="Text 4"/>
          <p:cNvSpPr/>
          <p:nvPr/>
        </p:nvSpPr>
        <p:spPr>
          <a:xfrm>
            <a:off x="1051560" y="2057400"/>
            <a:ext cx="4709160" cy="228600"/>
          </a:xfrm>
          <a:prstGeom prst="rect">
            <a:avLst/>
          </a:prstGeom>
          <a:noFill/>
          <a:ln/>
        </p:spPr>
        <p:txBody>
          <a:bodyPr wrap="square" rtlCol="0" anchor="ctr"/>
          <a:lstStyle/>
          <a:p>
            <a:pPr indent="0" marL="0">
              <a:buNone/>
            </a:pPr>
            <a:r>
              <a:rPr lang="en-US" sz="950" b="1" spc="100" kern="0" dirty="0">
                <a:solidFill>
                  <a:srgbClr val="0D9488"/>
                </a:solidFill>
                <a:latin typeface="Arial" pitchFamily="34" charset="0"/>
                <a:ea typeface="Arial" pitchFamily="34" charset="-122"/>
                <a:cs typeface="Arial" pitchFamily="34" charset="-120"/>
              </a:rPr>
              <a:t>FAKTA 1: PENGALAMAN UNIVERSAL &amp; NORMAL</a:t>
            </a:r>
            <a:endParaRPr lang="en-US" sz="950" dirty="0"/>
          </a:p>
        </p:txBody>
      </p:sp>
      <p:sp>
        <p:nvSpPr>
          <p:cNvPr id="7" name="Text 5"/>
          <p:cNvSpPr/>
          <p:nvPr/>
        </p:nvSpPr>
        <p:spPr>
          <a:xfrm>
            <a:off x="1051560" y="2286000"/>
            <a:ext cx="470916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Bukan Penyakit atau Gangguan Medis</a:t>
            </a:r>
            <a:endParaRPr lang="en-US" sz="1400" dirty="0"/>
          </a:p>
        </p:txBody>
      </p:sp>
      <p:sp>
        <p:nvSpPr>
          <p:cNvPr id="8" name="Text 6"/>
          <p:cNvSpPr/>
          <p:nvPr/>
        </p:nvSpPr>
        <p:spPr>
          <a:xfrm>
            <a:off x="1051560" y="2651760"/>
            <a:ext cx="4709160" cy="1188720"/>
          </a:xfrm>
          <a:prstGeom prst="rect">
            <a:avLst/>
          </a:prstGeom>
          <a:noFill/>
          <a:ln/>
        </p:spPr>
        <p:txBody>
          <a:bodyPr wrap="square" rtlCol="0" anchor="ctr"/>
          <a:lstStyle/>
          <a:p>
            <a:pPr indent="0" marL="0">
              <a:lnSpc>
                <a:spcPts val="1500"/>
              </a:lnSpc>
              <a:buNone/>
            </a:pPr>
            <a:r>
              <a:rPr lang="en-US" sz="1050" dirty="0">
                <a:solidFill>
                  <a:srgbClr val="475569"/>
                </a:solidFill>
                <a:latin typeface="Calibri" pitchFamily="34" charset="0"/>
                <a:ea typeface="Calibri" pitchFamily="34" charset="-122"/>
                <a:cs typeface="Calibri" pitchFamily="34" charset="-120"/>
              </a:rPr>
              <a:t>Melihat wajah pada benda mati dialami oleh 100% manusia sehat sejak usia bayi. Ini sama sekali bukan tanda gangguan kejiwaan, bukan skizofrenia, dan bukan hal mistis. Selama seseorang menyadari bahwa objek tersebut adalah benda mati, itu adalah bukti kesehatan fungsi persepsi visual.</a:t>
            </a:r>
            <a:endParaRPr lang="en-US" sz="1050" dirty="0"/>
          </a:p>
        </p:txBody>
      </p:sp>
      <p:sp>
        <p:nvSpPr>
          <p:cNvPr id="9" name="Shape 7"/>
          <p:cNvSpPr/>
          <p:nvPr/>
        </p:nvSpPr>
        <p:spPr>
          <a:xfrm>
            <a:off x="6202375" y="1920240"/>
            <a:ext cx="5166360" cy="2057400"/>
          </a:xfrm>
          <a:prstGeom prst="roundRect">
            <a:avLst>
              <a:gd name="adj" fmla="val 5333"/>
            </a:avLst>
          </a:prstGeom>
          <a:solidFill>
            <a:srgbClr val="FFFFFF"/>
          </a:solidFill>
          <a:ln w="12700">
            <a:solidFill>
              <a:srgbClr val="E2E8F0"/>
            </a:solidFill>
            <a:prstDash val="solid"/>
          </a:ln>
        </p:spPr>
      </p:sp>
      <p:sp>
        <p:nvSpPr>
          <p:cNvPr id="10" name="Text 8"/>
          <p:cNvSpPr/>
          <p:nvPr/>
        </p:nvSpPr>
        <p:spPr>
          <a:xfrm>
            <a:off x="6430975" y="2057400"/>
            <a:ext cx="4709160" cy="228600"/>
          </a:xfrm>
          <a:prstGeom prst="rect">
            <a:avLst/>
          </a:prstGeom>
          <a:noFill/>
          <a:ln/>
        </p:spPr>
        <p:txBody>
          <a:bodyPr wrap="square" rtlCol="0" anchor="ctr"/>
          <a:lstStyle/>
          <a:p>
            <a:pPr indent="0" marL="0">
              <a:buNone/>
            </a:pPr>
            <a:r>
              <a:rPr lang="en-US" sz="950" b="1" spc="100" kern="0" dirty="0">
                <a:solidFill>
                  <a:srgbClr val="D97706"/>
                </a:solidFill>
                <a:latin typeface="Arial" pitchFamily="34" charset="0"/>
                <a:ea typeface="Arial" pitchFamily="34" charset="-122"/>
                <a:cs typeface="Arial" pitchFamily="34" charset="-120"/>
              </a:rPr>
              <a:t>FAKTA 2: BIOLOGI HEWAN PRIMATA</a:t>
            </a:r>
            <a:endParaRPr lang="en-US" sz="950" dirty="0"/>
          </a:p>
        </p:txBody>
      </p:sp>
      <p:sp>
        <p:nvSpPr>
          <p:cNvPr id="11" name="Text 9"/>
          <p:cNvSpPr/>
          <p:nvPr/>
        </p:nvSpPr>
        <p:spPr>
          <a:xfrm>
            <a:off x="6430975" y="2286000"/>
            <a:ext cx="470916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Hewan Primata Juga Mengalaminya!</a:t>
            </a:r>
            <a:endParaRPr lang="en-US" sz="1400" dirty="0"/>
          </a:p>
        </p:txBody>
      </p:sp>
      <p:sp>
        <p:nvSpPr>
          <p:cNvPr id="12" name="Text 10"/>
          <p:cNvSpPr/>
          <p:nvPr/>
        </p:nvSpPr>
        <p:spPr>
          <a:xfrm>
            <a:off x="6430975" y="2651760"/>
            <a:ext cx="4709160" cy="1188720"/>
          </a:xfrm>
          <a:prstGeom prst="rect">
            <a:avLst/>
          </a:prstGeom>
          <a:noFill/>
          <a:ln/>
        </p:spPr>
        <p:txBody>
          <a:bodyPr wrap="square" rtlCol="0" anchor="ctr"/>
          <a:lstStyle/>
          <a:p>
            <a:pPr indent="0" marL="0">
              <a:lnSpc>
                <a:spcPts val="1500"/>
              </a:lnSpc>
              <a:buNone/>
            </a:pPr>
            <a:r>
              <a:rPr lang="en-US" sz="1050" dirty="0">
                <a:solidFill>
                  <a:srgbClr val="475569"/>
                </a:solidFill>
                <a:latin typeface="Calibri" pitchFamily="34" charset="0"/>
                <a:ea typeface="Calibri" pitchFamily="34" charset="-122"/>
                <a:cs typeface="Calibri" pitchFamily="34" charset="-120"/>
              </a:rPr>
              <a:t>Penelitian oleh Taubert et al. (2017) dalam Current Biology menemukan bahwa monyet rhesus (Macaca mulatta) menghabiskan waktu lebih lama menatap objek mati yang memiliki pola wajah dibanding benda biasa. Ini membuktikan bahwa mekanisme ini berakar dari evolusi primata purba jutaan tahun lalu.</a:t>
            </a:r>
            <a:endParaRPr lang="en-US" sz="1050" dirty="0"/>
          </a:p>
        </p:txBody>
      </p:sp>
      <p:sp>
        <p:nvSpPr>
          <p:cNvPr id="13" name="Shape 11"/>
          <p:cNvSpPr/>
          <p:nvPr/>
        </p:nvSpPr>
        <p:spPr>
          <a:xfrm>
            <a:off x="822960" y="4114800"/>
            <a:ext cx="5166360" cy="2057400"/>
          </a:xfrm>
          <a:prstGeom prst="roundRect">
            <a:avLst>
              <a:gd name="adj" fmla="val 5333"/>
            </a:avLst>
          </a:prstGeom>
          <a:solidFill>
            <a:srgbClr val="FFFFFF"/>
          </a:solidFill>
          <a:ln w="12700">
            <a:solidFill>
              <a:srgbClr val="E2E8F0"/>
            </a:solidFill>
            <a:prstDash val="solid"/>
          </a:ln>
        </p:spPr>
      </p:sp>
      <p:sp>
        <p:nvSpPr>
          <p:cNvPr id="14" name="Text 12"/>
          <p:cNvSpPr/>
          <p:nvPr/>
        </p:nvSpPr>
        <p:spPr>
          <a:xfrm>
            <a:off x="1051560" y="4251960"/>
            <a:ext cx="4709160" cy="228600"/>
          </a:xfrm>
          <a:prstGeom prst="rect">
            <a:avLst/>
          </a:prstGeom>
          <a:noFill/>
          <a:ln/>
        </p:spPr>
        <p:txBody>
          <a:bodyPr wrap="square" rtlCol="0" anchor="ctr"/>
          <a:lstStyle/>
          <a:p>
            <a:pPr indent="0" marL="0">
              <a:buNone/>
            </a:pPr>
            <a:r>
              <a:rPr lang="en-US" sz="950" b="1" spc="100" kern="0" dirty="0">
                <a:solidFill>
                  <a:srgbClr val="2563EB"/>
                </a:solidFill>
                <a:latin typeface="Arial" pitchFamily="34" charset="0"/>
                <a:ea typeface="Arial" pitchFamily="34" charset="-122"/>
                <a:cs typeface="Arial" pitchFamily="34" charset="-120"/>
              </a:rPr>
              <a:t>FAKTA 3: TEKNOLOGI MODERN</a:t>
            </a:r>
            <a:endParaRPr lang="en-US" sz="950" dirty="0"/>
          </a:p>
        </p:txBody>
      </p:sp>
      <p:sp>
        <p:nvSpPr>
          <p:cNvPr id="15" name="Text 13"/>
          <p:cNvSpPr/>
          <p:nvPr/>
        </p:nvSpPr>
        <p:spPr>
          <a:xfrm>
            <a:off x="1051560" y="4480560"/>
            <a:ext cx="470916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Kecerdasan Buatan (AI) Mengalami Pareidolia</a:t>
            </a:r>
            <a:endParaRPr lang="en-US" sz="1400" dirty="0"/>
          </a:p>
        </p:txBody>
      </p:sp>
      <p:sp>
        <p:nvSpPr>
          <p:cNvPr id="16" name="Text 14"/>
          <p:cNvSpPr/>
          <p:nvPr/>
        </p:nvSpPr>
        <p:spPr>
          <a:xfrm>
            <a:off x="1051560" y="4846320"/>
            <a:ext cx="4709160" cy="1188720"/>
          </a:xfrm>
          <a:prstGeom prst="rect">
            <a:avLst/>
          </a:prstGeom>
          <a:noFill/>
          <a:ln/>
        </p:spPr>
        <p:txBody>
          <a:bodyPr wrap="square" rtlCol="0" anchor="ctr"/>
          <a:lstStyle/>
          <a:p>
            <a:pPr indent="0" marL="0">
              <a:lnSpc>
                <a:spcPts val="1500"/>
              </a:lnSpc>
              <a:buNone/>
            </a:pPr>
            <a:r>
              <a:rPr lang="en-US" sz="1050" dirty="0">
                <a:solidFill>
                  <a:srgbClr val="475569"/>
                </a:solidFill>
                <a:latin typeface="Calibri" pitchFamily="34" charset="0"/>
                <a:ea typeface="Calibri" pitchFamily="34" charset="-122"/>
                <a:cs typeface="Calibri" pitchFamily="34" charset="-120"/>
              </a:rPr>
              <a:t>Sistem Computer Vision dan Convolutional Neural Networks (CNN) yang dilatih mendeteksi wajah manusia sering kali salah menandai formasi batu, tekstur penggorengan, atau busa kopi sebagai wajah asli. Hal ini membuktikan bahwa algoritma pengenal pola tingkat tinggi rentan terhadap pareidolia.</a:t>
            </a:r>
            <a:endParaRPr lang="en-US" sz="1050" dirty="0"/>
          </a:p>
        </p:txBody>
      </p:sp>
      <p:sp>
        <p:nvSpPr>
          <p:cNvPr id="17" name="Shape 15"/>
          <p:cNvSpPr/>
          <p:nvPr/>
        </p:nvSpPr>
        <p:spPr>
          <a:xfrm>
            <a:off x="6202375" y="4114800"/>
            <a:ext cx="5166360" cy="2057400"/>
          </a:xfrm>
          <a:prstGeom prst="roundRect">
            <a:avLst>
              <a:gd name="adj" fmla="val 5333"/>
            </a:avLst>
          </a:prstGeom>
          <a:solidFill>
            <a:srgbClr val="FFFFFF"/>
          </a:solidFill>
          <a:ln w="12700">
            <a:solidFill>
              <a:srgbClr val="E2E8F0"/>
            </a:solidFill>
            <a:prstDash val="solid"/>
          </a:ln>
        </p:spPr>
      </p:sp>
      <p:pic>
        <p:nvPicPr>
          <p:cNvPr id="18" name="Image 0" descr="/root/am-finder/pareidolia-presentasi/assets/mars-face.jpg">    </p:cNvPr>
          <p:cNvPicPr>
            <a:picLocks noChangeAspect="1"/>
          </p:cNvPicPr>
          <p:nvPr/>
        </p:nvPicPr>
        <p:blipFill>
          <a:blip r:embed="rId1"/>
          <a:srcRect l="0" r="0" t="0" b="0"/>
          <a:stretch/>
        </p:blipFill>
        <p:spPr>
          <a:xfrm>
            <a:off x="6430975" y="4297680"/>
            <a:ext cx="1554480" cy="1554480"/>
          </a:xfrm>
          <a:prstGeom prst="rect">
            <a:avLst/>
          </a:prstGeom>
        </p:spPr>
      </p:pic>
      <p:sp>
        <p:nvSpPr>
          <p:cNvPr id="19" name="Text 16"/>
          <p:cNvSpPr/>
          <p:nvPr/>
        </p:nvSpPr>
        <p:spPr>
          <a:xfrm>
            <a:off x="8092440" y="4251960"/>
            <a:ext cx="3017520" cy="228600"/>
          </a:xfrm>
          <a:prstGeom prst="rect">
            <a:avLst/>
          </a:prstGeom>
          <a:noFill/>
          <a:ln/>
        </p:spPr>
        <p:txBody>
          <a:bodyPr wrap="square" rtlCol="0" anchor="ctr"/>
          <a:lstStyle/>
          <a:p>
            <a:pPr indent="0" marL="0">
              <a:buNone/>
            </a:pPr>
            <a:r>
              <a:rPr lang="en-US" sz="950" b="1" spc="100" kern="0" dirty="0">
                <a:solidFill>
                  <a:srgbClr val="EA580C"/>
                </a:solidFill>
                <a:latin typeface="Arial" pitchFamily="34" charset="0"/>
                <a:ea typeface="Arial" pitchFamily="34" charset="-122"/>
                <a:cs typeface="Arial" pitchFamily="34" charset="-120"/>
              </a:rPr>
              <a:t>FAKTA 4: ASTRONOMI POPULER</a:t>
            </a:r>
            <a:endParaRPr lang="en-US" sz="950" dirty="0"/>
          </a:p>
        </p:txBody>
      </p:sp>
      <p:sp>
        <p:nvSpPr>
          <p:cNvPr id="20" name="Text 17"/>
          <p:cNvSpPr/>
          <p:nvPr/>
        </p:nvSpPr>
        <p:spPr>
          <a:xfrm>
            <a:off x="8092440" y="4480560"/>
            <a:ext cx="301752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Misteri "Face on Mars" (1976)</a:t>
            </a:r>
            <a:endParaRPr lang="en-US" sz="1300" dirty="0"/>
          </a:p>
        </p:txBody>
      </p:sp>
      <p:sp>
        <p:nvSpPr>
          <p:cNvPr id="21" name="Text 18"/>
          <p:cNvSpPr/>
          <p:nvPr/>
        </p:nvSpPr>
        <p:spPr>
          <a:xfrm>
            <a:off x="8092440" y="4846320"/>
            <a:ext cx="3017520" cy="1005840"/>
          </a:xfrm>
          <a:prstGeom prst="rect">
            <a:avLst/>
          </a:prstGeom>
          <a:noFill/>
          <a:ln/>
        </p:spPr>
        <p:txBody>
          <a:bodyPr wrap="square" rtlCol="0" anchor="ctr"/>
          <a:lstStyle/>
          <a:p>
            <a:pPr indent="0" marL="0">
              <a:lnSpc>
                <a:spcPts val="1400"/>
              </a:lnSpc>
              <a:buNone/>
            </a:pPr>
            <a:r>
              <a:rPr lang="en-US" sz="1000" dirty="0">
                <a:solidFill>
                  <a:srgbClr val="475569"/>
                </a:solidFill>
                <a:latin typeface="Calibri" pitchFamily="34" charset="0"/>
                <a:ea typeface="Calibri" pitchFamily="34" charset="-122"/>
                <a:cs typeface="Calibri" pitchFamily="34" charset="-120"/>
              </a:rPr>
              <a:t>Foto Viking 1 di Cydonia Mars sempat menghebohkan dunia karena tampak seperti wajah raksasa. Namun saat difoto ulang dengan kamera modern (2001), terbukti hanyalah bukit batu alami dengan ilusi bayangan.</a:t>
            </a:r>
            <a:endParaRPr lang="en-US" sz="1000" dirty="0"/>
          </a:p>
        </p:txBody>
      </p:sp>
      <p:sp>
        <p:nvSpPr>
          <p:cNvPr id="22" name="Shape 19"/>
          <p:cNvSpPr/>
          <p:nvPr/>
        </p:nvSpPr>
        <p:spPr>
          <a:xfrm>
            <a:off x="822960" y="6400800"/>
            <a:ext cx="10545775" cy="0"/>
          </a:xfrm>
          <a:prstGeom prst="line">
            <a:avLst/>
          </a:prstGeom>
          <a:noFill/>
          <a:ln w="12700">
            <a:solidFill>
              <a:srgbClr val="E2E8F0"/>
            </a:solidFill>
            <a:prstDash val="solid"/>
          </a:ln>
        </p:spPr>
      </p:sp>
      <p:sp>
        <p:nvSpPr>
          <p:cNvPr id="23" name="Text 20"/>
          <p:cNvSpPr/>
          <p:nvPr/>
        </p:nvSpPr>
        <p:spPr>
          <a:xfrm>
            <a:off x="822960" y="6446520"/>
            <a:ext cx="82296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Fenomena Pareidolia • Tugas Presentasi Kelompok Kelas IX E • [Nama Sekolah]</a:t>
            </a:r>
            <a:endParaRPr lang="en-US" sz="900" dirty="0"/>
          </a:p>
        </p:txBody>
      </p:sp>
      <p:sp>
        <p:nvSpPr>
          <p:cNvPr id="24" name="Text 21"/>
          <p:cNvSpPr/>
          <p:nvPr/>
        </p:nvSpPr>
        <p:spPr>
          <a:xfrm>
            <a:off x="9601200" y="6446520"/>
            <a:ext cx="1767535" cy="274320"/>
          </a:xfrm>
          <a:prstGeom prst="rect">
            <a:avLst/>
          </a:prstGeom>
          <a:noFill/>
          <a:ln/>
        </p:spPr>
        <p:txBody>
          <a:bodyPr wrap="square" rtlCol="0" anchor="ctr"/>
          <a:lstStyle/>
          <a:p>
            <a:pPr algn="r" indent="0" marL="0">
              <a:buNone/>
            </a:pPr>
            <a:r>
              <a:rPr lang="en-US" sz="900" b="1" dirty="0">
                <a:solidFill>
                  <a:srgbClr val="D97706"/>
                </a:solidFill>
                <a:latin typeface="Arial" pitchFamily="34" charset="0"/>
                <a:ea typeface="Arial" pitchFamily="34" charset="-122"/>
                <a:cs typeface="Arial" pitchFamily="34" charset="-120"/>
              </a:rPr>
              <a:t>Slide 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502920"/>
            <a:ext cx="10515600" cy="256032"/>
          </a:xfrm>
          <a:prstGeom prst="rect">
            <a:avLst/>
          </a:prstGeom>
          <a:noFill/>
          <a:ln/>
        </p:spPr>
        <p:txBody>
          <a:bodyPr wrap="square" rtlCol="0" anchor="ctr"/>
          <a:lstStyle/>
          <a:p>
            <a:pPr indent="0" marL="0">
              <a:buNone/>
            </a:pPr>
            <a:r>
              <a:rPr lang="en-US" sz="1000" b="1" spc="200" kern="0" dirty="0">
                <a:solidFill>
                  <a:srgbClr val="F59E0B"/>
                </a:solidFill>
                <a:latin typeface="Arial" pitchFamily="34" charset="0"/>
                <a:ea typeface="Arial" pitchFamily="34" charset="-122"/>
                <a:cs typeface="Arial" pitchFamily="34" charset="-120"/>
              </a:rPr>
              <a:t>SINTESIS &amp; INTISARI • GAGASAN UTAMA</a:t>
            </a:r>
            <a:endParaRPr lang="en-US" sz="1000" dirty="0"/>
          </a:p>
        </p:txBody>
      </p:sp>
      <p:sp>
        <p:nvSpPr>
          <p:cNvPr id="3" name="Text 1"/>
          <p:cNvSpPr/>
          <p:nvPr/>
        </p:nvSpPr>
        <p:spPr>
          <a:xfrm>
            <a:off x="822960" y="777240"/>
            <a:ext cx="10515600" cy="59436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Tiga Kesimpulan Penting tentang Fenomena Pareidolia</a:t>
            </a:r>
            <a:endParaRPr lang="en-US" sz="2400" dirty="0"/>
          </a:p>
        </p:txBody>
      </p:sp>
      <p:sp>
        <p:nvSpPr>
          <p:cNvPr id="4" name="Text 2"/>
          <p:cNvSpPr/>
          <p:nvPr/>
        </p:nvSpPr>
        <p:spPr>
          <a:xfrm>
            <a:off x="822960" y="1389888"/>
            <a:ext cx="10515600" cy="32004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Menghubungkan rasa penasaran sehari-hari dengan pemahaman neurosains yang utuh dan akurat.</a:t>
            </a:r>
            <a:endParaRPr lang="en-US" sz="1200" dirty="0"/>
          </a:p>
        </p:txBody>
      </p:sp>
      <p:sp>
        <p:nvSpPr>
          <p:cNvPr id="5" name="Shape 3"/>
          <p:cNvSpPr/>
          <p:nvPr/>
        </p:nvSpPr>
        <p:spPr>
          <a:xfrm>
            <a:off x="822960" y="1920240"/>
            <a:ext cx="10545775" cy="1097280"/>
          </a:xfrm>
          <a:prstGeom prst="roundRect">
            <a:avLst>
              <a:gd name="adj" fmla="val 8333"/>
            </a:avLst>
          </a:prstGeom>
          <a:solidFill>
            <a:srgbClr val="1E293B"/>
          </a:solidFill>
          <a:ln w="12700">
            <a:solidFill>
              <a:srgbClr val="334155"/>
            </a:solidFill>
            <a:prstDash val="solid"/>
          </a:ln>
        </p:spPr>
      </p:sp>
      <p:sp>
        <p:nvSpPr>
          <p:cNvPr id="6" name="Text 4"/>
          <p:cNvSpPr/>
          <p:nvPr/>
        </p:nvSpPr>
        <p:spPr>
          <a:xfrm>
            <a:off x="1051560" y="2057400"/>
            <a:ext cx="822960" cy="822960"/>
          </a:xfrm>
          <a:prstGeom prst="rect">
            <a:avLst/>
          </a:prstGeom>
          <a:noFill/>
          <a:ln/>
        </p:spPr>
        <p:txBody>
          <a:bodyPr wrap="square" rtlCol="0" anchor="ctr"/>
          <a:lstStyle/>
          <a:p>
            <a:pPr algn="ctr" indent="0" marL="0">
              <a:buNone/>
            </a:pPr>
            <a:r>
              <a:rPr lang="en-US" sz="2600" b="1" dirty="0">
                <a:solidFill>
                  <a:srgbClr val="F59E0B"/>
                </a:solidFill>
                <a:latin typeface="Arial" pitchFamily="34" charset="0"/>
                <a:ea typeface="Arial" pitchFamily="34" charset="-122"/>
                <a:cs typeface="Arial" pitchFamily="34" charset="-120"/>
              </a:rPr>
              <a:t>01</a:t>
            </a:r>
            <a:endParaRPr lang="en-US" sz="2600" dirty="0"/>
          </a:p>
        </p:txBody>
      </p:sp>
      <p:sp>
        <p:nvSpPr>
          <p:cNvPr id="7" name="Shape 5"/>
          <p:cNvSpPr/>
          <p:nvPr/>
        </p:nvSpPr>
        <p:spPr>
          <a:xfrm>
            <a:off x="1965960" y="2103120"/>
            <a:ext cx="0" cy="731520"/>
          </a:xfrm>
          <a:prstGeom prst="line">
            <a:avLst/>
          </a:prstGeom>
          <a:noFill/>
          <a:ln w="12700">
            <a:solidFill>
              <a:srgbClr val="334155"/>
            </a:solidFill>
            <a:prstDash val="solid"/>
          </a:ln>
        </p:spPr>
      </p:sp>
      <p:sp>
        <p:nvSpPr>
          <p:cNvPr id="8" name="Text 6"/>
          <p:cNvSpPr/>
          <p:nvPr/>
        </p:nvSpPr>
        <p:spPr>
          <a:xfrm>
            <a:off x="2148840" y="2057400"/>
            <a:ext cx="8961120" cy="320040"/>
          </a:xfrm>
          <a:prstGeom prst="rect">
            <a:avLst/>
          </a:prstGeom>
          <a:noFill/>
          <a:ln/>
        </p:spPr>
        <p:txBody>
          <a:bodyPr wrap="square" rtlCol="0" anchor="ctr"/>
          <a:lstStyle/>
          <a:p>
            <a:pPr indent="0" marL="0">
              <a:buNone/>
            </a:pPr>
            <a:r>
              <a:rPr lang="en-US" sz="1350" b="1" dirty="0">
                <a:solidFill>
                  <a:srgbClr val="F8FAFC"/>
                </a:solidFill>
                <a:latin typeface="Arial" pitchFamily="34" charset="0"/>
                <a:ea typeface="Arial" pitchFamily="34" charset="-122"/>
                <a:cs typeface="Arial" pitchFamily="34" charset="-120"/>
              </a:rPr>
              <a:t>Pola Familiar pada Objek yang Tidak Disengaja</a:t>
            </a:r>
            <a:endParaRPr lang="en-US" sz="1350" dirty="0"/>
          </a:p>
        </p:txBody>
      </p:sp>
      <p:sp>
        <p:nvSpPr>
          <p:cNvPr id="9" name="Text 7"/>
          <p:cNvSpPr/>
          <p:nvPr/>
        </p:nvSpPr>
        <p:spPr>
          <a:xfrm>
            <a:off x="2148840" y="2395728"/>
            <a:ext cx="8961120" cy="530352"/>
          </a:xfrm>
          <a:prstGeom prst="rect">
            <a:avLst/>
          </a:prstGeom>
          <a:noFill/>
          <a:ln/>
        </p:spPr>
        <p:txBody>
          <a:bodyPr wrap="square" rtlCol="0" anchor="ctr"/>
          <a:lstStyle/>
          <a:p>
            <a:pPr indent="0" marL="0">
              <a:lnSpc>
                <a:spcPts val="1500"/>
              </a:lnSpc>
              <a:buNone/>
            </a:pPr>
            <a:r>
              <a:rPr lang="en-US" sz="1100" dirty="0">
                <a:solidFill>
                  <a:srgbClr val="CBD5E1"/>
                </a:solidFill>
                <a:latin typeface="Calibri" pitchFamily="34" charset="0"/>
                <a:ea typeface="Calibri" pitchFamily="34" charset="-122"/>
                <a:cs typeface="Calibri" pitchFamily="34" charset="-120"/>
              </a:rPr>
              <a:t>Pareidolia adalah kecenderungan alami sistem persepsi manusia untuk mengenali bentuk bermakna—terutama wajah manusia—pada rangsangan visual acak atau ambigu yang sebenarnya tidak dirancang untuk membentuk pola tersebut.</a:t>
            </a:r>
            <a:endParaRPr lang="en-US" sz="1100" dirty="0"/>
          </a:p>
        </p:txBody>
      </p:sp>
      <p:sp>
        <p:nvSpPr>
          <p:cNvPr id="10" name="Shape 8"/>
          <p:cNvSpPr/>
          <p:nvPr/>
        </p:nvSpPr>
        <p:spPr>
          <a:xfrm>
            <a:off x="822960" y="3154680"/>
            <a:ext cx="10545775" cy="1097280"/>
          </a:xfrm>
          <a:prstGeom prst="roundRect">
            <a:avLst>
              <a:gd name="adj" fmla="val 8333"/>
            </a:avLst>
          </a:prstGeom>
          <a:solidFill>
            <a:srgbClr val="1E293B"/>
          </a:solidFill>
          <a:ln w="12700">
            <a:solidFill>
              <a:srgbClr val="334155"/>
            </a:solidFill>
            <a:prstDash val="solid"/>
          </a:ln>
        </p:spPr>
      </p:sp>
      <p:sp>
        <p:nvSpPr>
          <p:cNvPr id="11" name="Text 9"/>
          <p:cNvSpPr/>
          <p:nvPr/>
        </p:nvSpPr>
        <p:spPr>
          <a:xfrm>
            <a:off x="1051560" y="3291840"/>
            <a:ext cx="822960" cy="822960"/>
          </a:xfrm>
          <a:prstGeom prst="rect">
            <a:avLst/>
          </a:prstGeom>
          <a:noFill/>
          <a:ln/>
        </p:spPr>
        <p:txBody>
          <a:bodyPr wrap="square" rtlCol="0" anchor="ctr"/>
          <a:lstStyle/>
          <a:p>
            <a:pPr algn="ctr" indent="0" marL="0">
              <a:buNone/>
            </a:pPr>
            <a:r>
              <a:rPr lang="en-US" sz="2600" b="1" dirty="0">
                <a:solidFill>
                  <a:srgbClr val="0D9488"/>
                </a:solidFill>
                <a:latin typeface="Arial" pitchFamily="34" charset="0"/>
                <a:ea typeface="Arial" pitchFamily="34" charset="-122"/>
                <a:cs typeface="Arial" pitchFamily="34" charset="-120"/>
              </a:rPr>
              <a:t>02</a:t>
            </a:r>
            <a:endParaRPr lang="en-US" sz="2600" dirty="0"/>
          </a:p>
        </p:txBody>
      </p:sp>
      <p:sp>
        <p:nvSpPr>
          <p:cNvPr id="12" name="Shape 10"/>
          <p:cNvSpPr/>
          <p:nvPr/>
        </p:nvSpPr>
        <p:spPr>
          <a:xfrm>
            <a:off x="1965960" y="3337560"/>
            <a:ext cx="0" cy="731520"/>
          </a:xfrm>
          <a:prstGeom prst="line">
            <a:avLst/>
          </a:prstGeom>
          <a:noFill/>
          <a:ln w="12700">
            <a:solidFill>
              <a:srgbClr val="334155"/>
            </a:solidFill>
            <a:prstDash val="solid"/>
          </a:ln>
        </p:spPr>
      </p:sp>
      <p:sp>
        <p:nvSpPr>
          <p:cNvPr id="13" name="Text 11"/>
          <p:cNvSpPr/>
          <p:nvPr/>
        </p:nvSpPr>
        <p:spPr>
          <a:xfrm>
            <a:off x="2148840" y="3291840"/>
            <a:ext cx="8961120" cy="320040"/>
          </a:xfrm>
          <a:prstGeom prst="rect">
            <a:avLst/>
          </a:prstGeom>
          <a:noFill/>
          <a:ln/>
        </p:spPr>
        <p:txBody>
          <a:bodyPr wrap="square" rtlCol="0" anchor="ctr"/>
          <a:lstStyle/>
          <a:p>
            <a:pPr indent="0" marL="0">
              <a:buNone/>
            </a:pPr>
            <a:r>
              <a:rPr lang="en-US" sz="1350" b="1" dirty="0">
                <a:solidFill>
                  <a:srgbClr val="F8FAFC"/>
                </a:solidFill>
                <a:latin typeface="Arial" pitchFamily="34" charset="0"/>
                <a:ea typeface="Arial" pitchFamily="34" charset="-122"/>
                <a:cs typeface="Arial" pitchFamily="34" charset="-120"/>
              </a:rPr>
              <a:t>Bukti Kepekaan dan Kecepatan Kerja Otak Manusia</a:t>
            </a:r>
            <a:endParaRPr lang="en-US" sz="1350" dirty="0"/>
          </a:p>
        </p:txBody>
      </p:sp>
      <p:sp>
        <p:nvSpPr>
          <p:cNvPr id="14" name="Text 12"/>
          <p:cNvSpPr/>
          <p:nvPr/>
        </p:nvSpPr>
        <p:spPr>
          <a:xfrm>
            <a:off x="2148840" y="3630168"/>
            <a:ext cx="8961120" cy="530352"/>
          </a:xfrm>
          <a:prstGeom prst="rect">
            <a:avLst/>
          </a:prstGeom>
          <a:noFill/>
          <a:ln/>
        </p:spPr>
        <p:txBody>
          <a:bodyPr wrap="square" rtlCol="0" anchor="ctr"/>
          <a:lstStyle/>
          <a:p>
            <a:pPr indent="0" marL="0">
              <a:lnSpc>
                <a:spcPts val="1500"/>
              </a:lnSpc>
              <a:buNone/>
            </a:pPr>
            <a:r>
              <a:rPr lang="en-US" sz="1100" dirty="0">
                <a:solidFill>
                  <a:srgbClr val="CBD5E1"/>
                </a:solidFill>
                <a:latin typeface="Calibri" pitchFamily="34" charset="0"/>
                <a:ea typeface="Calibri" pitchFamily="34" charset="-122"/>
                <a:cs typeface="Calibri" pitchFamily="34" charset="-120"/>
              </a:rPr>
              <a:t>Kemampuan luar biasa otak mengenali wajah membantu menjelaskan mengapa pola tertentu tampak seperti wajah. Sirkuit Fusiform Face Area (FFA) aktif dalam hitungan milidetik (~165 ms) karena otak kita diprogram untuk peka terhadap pola wajah.</a:t>
            </a:r>
            <a:endParaRPr lang="en-US" sz="1100" dirty="0"/>
          </a:p>
        </p:txBody>
      </p:sp>
      <p:sp>
        <p:nvSpPr>
          <p:cNvPr id="15" name="Shape 13"/>
          <p:cNvSpPr/>
          <p:nvPr/>
        </p:nvSpPr>
        <p:spPr>
          <a:xfrm>
            <a:off x="822960" y="4389120"/>
            <a:ext cx="10545775" cy="1097280"/>
          </a:xfrm>
          <a:prstGeom prst="roundRect">
            <a:avLst>
              <a:gd name="adj" fmla="val 8333"/>
            </a:avLst>
          </a:prstGeom>
          <a:solidFill>
            <a:srgbClr val="1E293B"/>
          </a:solidFill>
          <a:ln w="12700">
            <a:solidFill>
              <a:srgbClr val="334155"/>
            </a:solidFill>
            <a:prstDash val="solid"/>
          </a:ln>
        </p:spPr>
      </p:sp>
      <p:sp>
        <p:nvSpPr>
          <p:cNvPr id="16" name="Text 14"/>
          <p:cNvSpPr/>
          <p:nvPr/>
        </p:nvSpPr>
        <p:spPr>
          <a:xfrm>
            <a:off x="1051560" y="4526280"/>
            <a:ext cx="822960" cy="822960"/>
          </a:xfrm>
          <a:prstGeom prst="rect">
            <a:avLst/>
          </a:prstGeom>
          <a:noFill/>
          <a:ln/>
        </p:spPr>
        <p:txBody>
          <a:bodyPr wrap="square" rtlCol="0" anchor="ctr"/>
          <a:lstStyle/>
          <a:p>
            <a:pPr algn="ctr" indent="0" marL="0">
              <a:buNone/>
            </a:pPr>
            <a:r>
              <a:rPr lang="en-US" sz="2600" b="1" dirty="0">
                <a:solidFill>
                  <a:srgbClr val="2563EB"/>
                </a:solidFill>
                <a:latin typeface="Arial" pitchFamily="34" charset="0"/>
                <a:ea typeface="Arial" pitchFamily="34" charset="-122"/>
                <a:cs typeface="Arial" pitchFamily="34" charset="-120"/>
              </a:rPr>
              <a:t>03</a:t>
            </a:r>
            <a:endParaRPr lang="en-US" sz="2600" dirty="0"/>
          </a:p>
        </p:txBody>
      </p:sp>
      <p:sp>
        <p:nvSpPr>
          <p:cNvPr id="17" name="Shape 15"/>
          <p:cNvSpPr/>
          <p:nvPr/>
        </p:nvSpPr>
        <p:spPr>
          <a:xfrm>
            <a:off x="1965960" y="4572000"/>
            <a:ext cx="0" cy="731520"/>
          </a:xfrm>
          <a:prstGeom prst="line">
            <a:avLst/>
          </a:prstGeom>
          <a:noFill/>
          <a:ln w="12700">
            <a:solidFill>
              <a:srgbClr val="334155"/>
            </a:solidFill>
            <a:prstDash val="solid"/>
          </a:ln>
        </p:spPr>
      </p:sp>
      <p:sp>
        <p:nvSpPr>
          <p:cNvPr id="18" name="Text 16"/>
          <p:cNvSpPr/>
          <p:nvPr/>
        </p:nvSpPr>
        <p:spPr>
          <a:xfrm>
            <a:off x="2148840" y="4526280"/>
            <a:ext cx="8961120" cy="320040"/>
          </a:xfrm>
          <a:prstGeom prst="rect">
            <a:avLst/>
          </a:prstGeom>
          <a:noFill/>
          <a:ln/>
        </p:spPr>
        <p:txBody>
          <a:bodyPr wrap="square" rtlCol="0" anchor="ctr"/>
          <a:lstStyle/>
          <a:p>
            <a:pPr indent="0" marL="0">
              <a:buNone/>
            </a:pPr>
            <a:r>
              <a:rPr lang="en-US" sz="1350" b="1" dirty="0">
                <a:solidFill>
                  <a:srgbClr val="F8FAFC"/>
                </a:solidFill>
                <a:latin typeface="Arial" pitchFamily="34" charset="0"/>
                <a:ea typeface="Arial" pitchFamily="34" charset="-122"/>
                <a:cs typeface="Arial" pitchFamily="34" charset="-120"/>
              </a:rPr>
              <a:t>Pengaruh Pengalaman, Konteks, dan Kesadaran Rasional</a:t>
            </a:r>
            <a:endParaRPr lang="en-US" sz="1350" dirty="0"/>
          </a:p>
        </p:txBody>
      </p:sp>
      <p:sp>
        <p:nvSpPr>
          <p:cNvPr id="19" name="Text 17"/>
          <p:cNvSpPr/>
          <p:nvPr/>
        </p:nvSpPr>
        <p:spPr>
          <a:xfrm>
            <a:off x="2148840" y="4864608"/>
            <a:ext cx="8961120" cy="530352"/>
          </a:xfrm>
          <a:prstGeom prst="rect">
            <a:avLst/>
          </a:prstGeom>
          <a:noFill/>
          <a:ln/>
        </p:spPr>
        <p:txBody>
          <a:bodyPr wrap="square" rtlCol="0" anchor="ctr"/>
          <a:lstStyle/>
          <a:p>
            <a:pPr indent="0" marL="0">
              <a:lnSpc>
                <a:spcPts val="1500"/>
              </a:lnSpc>
              <a:buNone/>
            </a:pPr>
            <a:r>
              <a:rPr lang="en-US" sz="1100" dirty="0">
                <a:solidFill>
                  <a:srgbClr val="CBD5E1"/>
                </a:solidFill>
                <a:latin typeface="Calibri" pitchFamily="34" charset="0"/>
                <a:ea typeface="Calibri" pitchFamily="34" charset="-122"/>
                <a:cs typeface="Calibri" pitchFamily="34" charset="-120"/>
              </a:rPr>
              <a:t>Pengalaman dan konteks dapat mempengaruhi cara kita menafsirkan suatu bentuk. Meskipun korteks visual memicu persepsi awal wajah, korteks prefrontal segera menyelaraskannya dengan kesadaran bahwa objek tersebut tetaplah benda mati.</a:t>
            </a:r>
            <a:endParaRPr lang="en-US" sz="1100" dirty="0"/>
          </a:p>
        </p:txBody>
      </p:sp>
      <p:sp>
        <p:nvSpPr>
          <p:cNvPr id="20" name="Shape 18"/>
          <p:cNvSpPr/>
          <p:nvPr/>
        </p:nvSpPr>
        <p:spPr>
          <a:xfrm>
            <a:off x="822960" y="5715000"/>
            <a:ext cx="10545775" cy="502920"/>
          </a:xfrm>
          <a:prstGeom prst="roundRect">
            <a:avLst>
              <a:gd name="adj" fmla="val 14545"/>
            </a:avLst>
          </a:prstGeom>
          <a:solidFill>
            <a:srgbClr val="1E293B"/>
          </a:solidFill>
          <a:ln w="12700">
            <a:solidFill>
              <a:srgbClr val="F59E0B"/>
            </a:solidFill>
            <a:prstDash val="solid"/>
          </a:ln>
        </p:spPr>
      </p:sp>
      <p:sp>
        <p:nvSpPr>
          <p:cNvPr id="21" name="Text 19"/>
          <p:cNvSpPr/>
          <p:nvPr/>
        </p:nvSpPr>
        <p:spPr>
          <a:xfrm>
            <a:off x="1051560" y="5779008"/>
            <a:ext cx="10058400" cy="365760"/>
          </a:xfrm>
          <a:prstGeom prst="rect">
            <a:avLst/>
          </a:prstGeom>
          <a:noFill/>
          <a:ln/>
        </p:spPr>
        <p:txBody>
          <a:bodyPr wrap="square" rtlCol="0" anchor="ctr"/>
          <a:lstStyle/>
          <a:p>
            <a:pPr algn="ctr" indent="0" marL="0">
              <a:buNone/>
            </a:pPr>
            <a:r>
              <a:rPr lang="en-US" sz="1150" b="1" i="1" dirty="0">
                <a:solidFill>
                  <a:srgbClr val="F59E0B"/>
                </a:solidFill>
                <a:latin typeface="Arial" pitchFamily="34" charset="0"/>
                <a:ea typeface="Arial" pitchFamily="34" charset="-122"/>
                <a:cs typeface="Arial" pitchFamily="34" charset="-120"/>
              </a:rPr>
              <a:t>“Melihat wajah pada benda mati bukanlah tanda kelemahan pikiran, melainkan bukti nyata bahwa otak kita bekerja dengan luar biasa tangkas dan sempurna.”</a:t>
            </a:r>
            <a:endParaRPr lang="en-US" sz="1150" dirty="0"/>
          </a:p>
        </p:txBody>
      </p:sp>
      <p:sp>
        <p:nvSpPr>
          <p:cNvPr id="22" name="Shape 20"/>
          <p:cNvSpPr/>
          <p:nvPr/>
        </p:nvSpPr>
        <p:spPr>
          <a:xfrm>
            <a:off x="822960" y="6400800"/>
            <a:ext cx="10545775" cy="0"/>
          </a:xfrm>
          <a:prstGeom prst="line">
            <a:avLst/>
          </a:prstGeom>
          <a:noFill/>
          <a:ln w="12700">
            <a:solidFill>
              <a:srgbClr val="334155"/>
            </a:solidFill>
            <a:prstDash val="solid"/>
          </a:ln>
        </p:spPr>
      </p:sp>
      <p:sp>
        <p:nvSpPr>
          <p:cNvPr id="23" name="Text 21"/>
          <p:cNvSpPr/>
          <p:nvPr/>
        </p:nvSpPr>
        <p:spPr>
          <a:xfrm>
            <a:off x="822960" y="6446520"/>
            <a:ext cx="8229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Fenomena Pareidolia • Tugas Presentasi Kelompok Kelas IX E • [Nama Sekolah]</a:t>
            </a:r>
            <a:endParaRPr lang="en-US" sz="900" dirty="0"/>
          </a:p>
        </p:txBody>
      </p:sp>
      <p:sp>
        <p:nvSpPr>
          <p:cNvPr id="24" name="Text 22"/>
          <p:cNvSpPr/>
          <p:nvPr/>
        </p:nvSpPr>
        <p:spPr>
          <a:xfrm>
            <a:off x="9601200" y="6446520"/>
            <a:ext cx="1767535"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502920"/>
            <a:ext cx="10515600" cy="256032"/>
          </a:xfrm>
          <a:prstGeom prst="rect">
            <a:avLst/>
          </a:prstGeom>
          <a:noFill/>
          <a:ln/>
        </p:spPr>
        <p:txBody>
          <a:bodyPr wrap="square" rtlCol="0" anchor="ctr"/>
          <a:lstStyle/>
          <a:p>
            <a:pPr indent="0" marL="0">
              <a:buNone/>
            </a:pPr>
            <a:r>
              <a:rPr lang="en-US" sz="1000" b="1" spc="200" kern="0" dirty="0">
                <a:solidFill>
                  <a:srgbClr val="F59E0B"/>
                </a:solidFill>
                <a:latin typeface="Arial" pitchFamily="34" charset="0"/>
                <a:ea typeface="Arial" pitchFamily="34" charset="-122"/>
                <a:cs typeface="Arial" pitchFamily="34" charset="-120"/>
              </a:rPr>
              <a:t>PENUTUP PRESENTASI • DISKUSI &amp; PUSTAKA</a:t>
            </a:r>
            <a:endParaRPr lang="en-US" sz="1000" dirty="0"/>
          </a:p>
        </p:txBody>
      </p:sp>
      <p:sp>
        <p:nvSpPr>
          <p:cNvPr id="3" name="Text 1"/>
          <p:cNvSpPr/>
          <p:nvPr/>
        </p:nvSpPr>
        <p:spPr>
          <a:xfrm>
            <a:off x="822960" y="777240"/>
            <a:ext cx="10515600" cy="59436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Terima Kasih dan Referensi Ilmiah</a:t>
            </a:r>
            <a:endParaRPr lang="en-US" sz="2400" dirty="0"/>
          </a:p>
        </p:txBody>
      </p:sp>
      <p:sp>
        <p:nvSpPr>
          <p:cNvPr id="4" name="Text 2"/>
          <p:cNvSpPr/>
          <p:nvPr/>
        </p:nvSpPr>
        <p:spPr>
          <a:xfrm>
            <a:off x="822960" y="1389888"/>
            <a:ext cx="10515600" cy="32004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Sesi tanya jawab terbuka serta daftar literatur akademik yang mendasari materi presentasi ini.</a:t>
            </a:r>
            <a:endParaRPr lang="en-US" sz="1200" dirty="0"/>
          </a:p>
        </p:txBody>
      </p:sp>
      <p:sp>
        <p:nvSpPr>
          <p:cNvPr id="5" name="Shape 3"/>
          <p:cNvSpPr/>
          <p:nvPr/>
        </p:nvSpPr>
        <p:spPr>
          <a:xfrm>
            <a:off x="822960" y="1920240"/>
            <a:ext cx="4389120" cy="4251960"/>
          </a:xfrm>
          <a:prstGeom prst="roundRect">
            <a:avLst>
              <a:gd name="adj" fmla="val 2581"/>
            </a:avLst>
          </a:prstGeom>
          <a:solidFill>
            <a:srgbClr val="1E293B"/>
          </a:solidFill>
          <a:ln w="12700">
            <a:solidFill>
              <a:srgbClr val="334155"/>
            </a:solidFill>
            <a:prstDash val="solid"/>
          </a:ln>
        </p:spPr>
      </p:sp>
      <p:sp>
        <p:nvSpPr>
          <p:cNvPr id="6" name="Text 4"/>
          <p:cNvSpPr/>
          <p:nvPr/>
        </p:nvSpPr>
        <p:spPr>
          <a:xfrm>
            <a:off x="1051560" y="2103120"/>
            <a:ext cx="3931920" cy="228600"/>
          </a:xfrm>
          <a:prstGeom prst="rect">
            <a:avLst/>
          </a:prstGeom>
          <a:noFill/>
          <a:ln/>
        </p:spPr>
        <p:txBody>
          <a:bodyPr wrap="square" rtlCol="0" anchor="ctr"/>
          <a:lstStyle/>
          <a:p>
            <a:pPr indent="0" marL="0">
              <a:buNone/>
            </a:pPr>
            <a:r>
              <a:rPr lang="en-US" sz="950" b="1" spc="150" kern="0" dirty="0">
                <a:solidFill>
                  <a:srgbClr val="F59E0B"/>
                </a:solidFill>
                <a:latin typeface="Arial" pitchFamily="34" charset="0"/>
                <a:ea typeface="Arial" pitchFamily="34" charset="-122"/>
                <a:cs typeface="Arial" pitchFamily="34" charset="-120"/>
              </a:rPr>
              <a:t>SESI DISKUSI TERBUKA</a:t>
            </a:r>
            <a:endParaRPr lang="en-US" sz="950" dirty="0"/>
          </a:p>
        </p:txBody>
      </p:sp>
      <p:sp>
        <p:nvSpPr>
          <p:cNvPr id="7" name="Text 5"/>
          <p:cNvSpPr/>
          <p:nvPr/>
        </p:nvSpPr>
        <p:spPr>
          <a:xfrm>
            <a:off x="1051560" y="2331720"/>
            <a:ext cx="3931920" cy="640080"/>
          </a:xfrm>
          <a:prstGeom prst="rect">
            <a:avLst/>
          </a:prstGeom>
          <a:noFill/>
          <a:ln/>
        </p:spPr>
        <p:txBody>
          <a:bodyPr wrap="square" rtlCol="0" anchor="ctr"/>
          <a:lstStyle/>
          <a:p>
            <a:pPr indent="0" marL="0">
              <a:lnSpc>
                <a:spcPts val="2400"/>
              </a:lnSpc>
              <a:buNone/>
            </a:pPr>
            <a:r>
              <a:rPr lang="en-US" sz="2000" b="1" dirty="0">
                <a:solidFill>
                  <a:srgbClr val="F8FAFC"/>
                </a:solidFill>
                <a:latin typeface="Arial" pitchFamily="34" charset="0"/>
                <a:ea typeface="Arial" pitchFamily="34" charset="-122"/>
                <a:cs typeface="Arial" pitchFamily="34" charset="-120"/>
              </a:rPr>
              <a:t>Ada Pertanyaan atau Pengalaman Menarik?</a:t>
            </a:r>
            <a:endParaRPr lang="en-US" sz="2000" dirty="0"/>
          </a:p>
        </p:txBody>
      </p:sp>
      <p:sp>
        <p:nvSpPr>
          <p:cNvPr id="8" name="Text 6"/>
          <p:cNvSpPr/>
          <p:nvPr/>
        </p:nvSpPr>
        <p:spPr>
          <a:xfrm>
            <a:off x="1051560" y="3063240"/>
            <a:ext cx="3931920" cy="822960"/>
          </a:xfrm>
          <a:prstGeom prst="rect">
            <a:avLst/>
          </a:prstGeom>
          <a:noFill/>
          <a:ln/>
        </p:spPr>
        <p:txBody>
          <a:bodyPr wrap="square" rtlCol="0" anchor="ctr"/>
          <a:lstStyle/>
          <a:p>
            <a:pPr indent="0" marL="0">
              <a:lnSpc>
                <a:spcPts val="1600"/>
              </a:lnSpc>
              <a:buNone/>
            </a:pPr>
            <a:r>
              <a:rPr lang="en-US" sz="1100" dirty="0">
                <a:solidFill>
                  <a:srgbClr val="CBD5E1"/>
                </a:solidFill>
                <a:latin typeface="Calibri" pitchFamily="34" charset="0"/>
                <a:ea typeface="Calibri" pitchFamily="34" charset="-122"/>
                <a:cs typeface="Calibri" pitchFamily="34" charset="-120"/>
              </a:rPr>
              <a:t>Kami mengundang Bapak/Ibu Guru serta teman-teman kelas IX E untuk mengajukan pertanyaan, memberikan pandangan, atau menceritakan fenomena pareidolia yang pernah kalian temukan di rumah atau lingkungan sekitar.</a:t>
            </a:r>
            <a:endParaRPr lang="en-US" sz="1100" dirty="0"/>
          </a:p>
        </p:txBody>
      </p:sp>
      <p:sp>
        <p:nvSpPr>
          <p:cNvPr id="9" name="Shape 7"/>
          <p:cNvSpPr/>
          <p:nvPr/>
        </p:nvSpPr>
        <p:spPr>
          <a:xfrm>
            <a:off x="1051560" y="4023360"/>
            <a:ext cx="3931920" cy="1965960"/>
          </a:xfrm>
          <a:prstGeom prst="roundRect">
            <a:avLst>
              <a:gd name="adj" fmla="val 3721"/>
            </a:avLst>
          </a:prstGeom>
          <a:solidFill>
            <a:srgbClr val="0F172A"/>
          </a:solidFill>
          <a:ln w="12700">
            <a:solidFill>
              <a:srgbClr val="334155"/>
            </a:solidFill>
            <a:prstDash val="solid"/>
          </a:ln>
        </p:spPr>
      </p:sp>
      <p:sp>
        <p:nvSpPr>
          <p:cNvPr id="10" name="Text 8"/>
          <p:cNvSpPr/>
          <p:nvPr/>
        </p:nvSpPr>
        <p:spPr>
          <a:xfrm>
            <a:off x="1234440" y="4160520"/>
            <a:ext cx="3566160" cy="1737360"/>
          </a:xfrm>
          <a:prstGeom prst="rect">
            <a:avLst/>
          </a:prstGeom>
          <a:noFill/>
          <a:ln/>
        </p:spPr>
        <p:txBody>
          <a:bodyPr wrap="square" rtlCol="0" anchor="ctr"/>
          <a:lstStyle/>
          <a:p>
            <a:pPr indent="0" marL="0">
              <a:lnSpc>
                <a:spcPts val="1600"/>
              </a:lnSpc>
              <a:buNone/>
            </a:pPr>
            <a:r>
              <a:rPr lang="en-US" sz="1000" b="1" dirty="0">
                <a:solidFill>
                  <a:srgbClr val="F59E0B"/>
                </a:solidFill>
                <a:latin typeface="Calibri" pitchFamily="34" charset="0"/>
                <a:ea typeface="Calibri" pitchFamily="34" charset="-122"/>
                <a:cs typeface="Calibri" pitchFamily="34" charset="-120"/>
              </a:rPr>
              <a:t>KELOMPOK PRESENTASI:
</a:t>
            </a:r>
            <a:pPr indent="0" marL="0">
              <a:lnSpc>
                <a:spcPts val="1600"/>
              </a:lnSpc>
              <a:buNone/>
            </a:pPr>
            <a:r>
              <a:rPr lang="en-US" sz="1300" b="1" dirty="0">
                <a:solidFill>
                  <a:srgbClr val="FFFFFF"/>
                </a:solidFill>
                <a:latin typeface="Calibri" pitchFamily="34" charset="0"/>
                <a:ea typeface="Calibri" pitchFamily="34" charset="-122"/>
                <a:cs typeface="Calibri" pitchFamily="34" charset="-120"/>
              </a:rPr>
              <a:t>• Gani
• Niko
</a:t>
            </a:r>
            <a:pPr indent="0" marL="0">
              <a:lnSpc>
                <a:spcPts val="1600"/>
              </a:lnSpc>
              <a:buNone/>
            </a:pPr>
            <a:r>
              <a:rPr lang="en-US" sz="1100" dirty="0">
                <a:solidFill>
                  <a:srgbClr val="F8FAFC"/>
                </a:solidFill>
                <a:latin typeface="Calibri" pitchFamily="34" charset="0"/>
                <a:ea typeface="Calibri" pitchFamily="34" charset="-122"/>
                <a:cs typeface="Calibri" pitchFamily="34" charset="-120"/>
              </a:rPr>
              <a:t>Kelas: IX E
</a:t>
            </a:r>
            <a:pPr indent="0" marL="0">
              <a:lnSpc>
                <a:spcPts val="1600"/>
              </a:lnSpc>
              <a:buNone/>
            </a:pPr>
            <a:r>
              <a:rPr lang="en-US" sz="1100" dirty="0">
                <a:solidFill>
                  <a:srgbClr val="F8FAFC"/>
                </a:solidFill>
                <a:latin typeface="Calibri" pitchFamily="34" charset="0"/>
                <a:ea typeface="Calibri" pitchFamily="34" charset="-122"/>
                <a:cs typeface="Calibri" pitchFamily="34" charset="-120"/>
              </a:rPr>
              <a:t>Sekolah: [Nama Sekolah]
</a:t>
            </a:r>
            <a:pPr indent="0" marL="0">
              <a:lnSpc>
                <a:spcPts val="1600"/>
              </a:lnSpc>
              <a:buNone/>
            </a:pPr>
            <a:r>
              <a:rPr lang="en-US" sz="950" dirty="0">
                <a:solidFill>
                  <a:srgbClr val="64748B"/>
                </a:solidFill>
                <a:latin typeface="Calibri" pitchFamily="34" charset="0"/>
                <a:ea typeface="Calibri" pitchFamily="34" charset="-122"/>
                <a:cs typeface="Calibri" pitchFamily="34" charset="-120"/>
              </a:rPr>
              <a:t>Tahun Ajaran: 2026 / 2027</a:t>
            </a:r>
            <a:endParaRPr lang="en-US" sz="1000" dirty="0"/>
          </a:p>
        </p:txBody>
      </p:sp>
      <p:sp>
        <p:nvSpPr>
          <p:cNvPr id="11" name="Shape 9"/>
          <p:cNvSpPr/>
          <p:nvPr/>
        </p:nvSpPr>
        <p:spPr>
          <a:xfrm>
            <a:off x="5486400" y="1920240"/>
            <a:ext cx="5882335" cy="4251960"/>
          </a:xfrm>
          <a:prstGeom prst="roundRect">
            <a:avLst>
              <a:gd name="adj" fmla="val 2581"/>
            </a:avLst>
          </a:prstGeom>
          <a:solidFill>
            <a:srgbClr val="1E293B"/>
          </a:solidFill>
          <a:ln w="12700">
            <a:solidFill>
              <a:srgbClr val="334155"/>
            </a:solidFill>
            <a:prstDash val="solid"/>
          </a:ln>
        </p:spPr>
      </p:sp>
      <p:sp>
        <p:nvSpPr>
          <p:cNvPr id="12" name="Text 10"/>
          <p:cNvSpPr/>
          <p:nvPr/>
        </p:nvSpPr>
        <p:spPr>
          <a:xfrm>
            <a:off x="5715000" y="2103120"/>
            <a:ext cx="5394960" cy="228600"/>
          </a:xfrm>
          <a:prstGeom prst="rect">
            <a:avLst/>
          </a:prstGeom>
          <a:noFill/>
          <a:ln/>
        </p:spPr>
        <p:txBody>
          <a:bodyPr wrap="square" rtlCol="0" anchor="ctr"/>
          <a:lstStyle/>
          <a:p>
            <a:pPr indent="0" marL="0">
              <a:buNone/>
            </a:pPr>
            <a:r>
              <a:rPr lang="en-US" sz="950" b="1" spc="150" kern="0" dirty="0">
                <a:solidFill>
                  <a:srgbClr val="0D9488"/>
                </a:solidFill>
                <a:latin typeface="Arial" pitchFamily="34" charset="0"/>
                <a:ea typeface="Arial" pitchFamily="34" charset="-122"/>
                <a:cs typeface="Arial" pitchFamily="34" charset="-120"/>
              </a:rPr>
              <a:t>DAFTAR REFERENSI ILMIAH TERVERIFIKASI</a:t>
            </a:r>
            <a:endParaRPr lang="en-US" sz="950" dirty="0"/>
          </a:p>
        </p:txBody>
      </p:sp>
      <p:sp>
        <p:nvSpPr>
          <p:cNvPr id="13" name="Shape 11"/>
          <p:cNvSpPr/>
          <p:nvPr/>
        </p:nvSpPr>
        <p:spPr>
          <a:xfrm>
            <a:off x="5715000" y="2423160"/>
            <a:ext cx="5394960" cy="0"/>
          </a:xfrm>
          <a:prstGeom prst="line">
            <a:avLst/>
          </a:prstGeom>
          <a:noFill/>
          <a:ln w="12700">
            <a:solidFill>
              <a:srgbClr val="334155"/>
            </a:solidFill>
            <a:prstDash val="solid"/>
          </a:ln>
        </p:spPr>
      </p:sp>
      <p:sp>
        <p:nvSpPr>
          <p:cNvPr id="14" name="Text 12"/>
          <p:cNvSpPr/>
          <p:nvPr/>
        </p:nvSpPr>
        <p:spPr>
          <a:xfrm>
            <a:off x="5715000" y="2560320"/>
            <a:ext cx="5394960" cy="594360"/>
          </a:xfrm>
          <a:prstGeom prst="rect">
            <a:avLst/>
          </a:prstGeom>
          <a:noFill/>
          <a:ln/>
        </p:spPr>
        <p:txBody>
          <a:bodyPr wrap="square" rtlCol="0" anchor="ctr"/>
          <a:lstStyle/>
          <a:p>
            <a:pPr indent="0" marL="0">
              <a:lnSpc>
                <a:spcPts val="1300"/>
              </a:lnSpc>
              <a:buNone/>
            </a:pPr>
            <a:r>
              <a:rPr lang="en-US" sz="950" b="1" dirty="0">
                <a:solidFill>
                  <a:srgbClr val="F8FAFC"/>
                </a:solidFill>
                <a:latin typeface="Calibri" pitchFamily="34" charset="0"/>
                <a:ea typeface="Calibri" pitchFamily="34" charset="-122"/>
                <a:cs typeface="Calibri" pitchFamily="34" charset="-120"/>
              </a:rPr>
              <a:t>1. Wardle, S. G., Taubert, J., Teichmann, L., &amp; Baker, C. I. (2020). </a:t>
            </a:r>
            <a:pPr indent="0" marL="0">
              <a:lnSpc>
                <a:spcPts val="1300"/>
              </a:lnSpc>
              <a:buNone/>
            </a:pPr>
            <a:r>
              <a:rPr lang="en-US" sz="950" i="1" dirty="0">
                <a:solidFill>
                  <a:srgbClr val="CBD5E1"/>
                </a:solidFill>
                <a:latin typeface="Calibri" pitchFamily="34" charset="0"/>
                <a:ea typeface="Calibri" pitchFamily="34" charset="-122"/>
                <a:cs typeface="Calibri" pitchFamily="34" charset="-120"/>
              </a:rPr>
              <a:t>"Rapid and dynamic processing of face pareidolia in the human brain." </a:t>
            </a:r>
            <a:pPr indent="0" marL="0">
              <a:lnSpc>
                <a:spcPts val="1300"/>
              </a:lnSpc>
              <a:buNone/>
            </a:pPr>
            <a:r>
              <a:rPr lang="en-US" sz="850" dirty="0">
                <a:solidFill>
                  <a:srgbClr val="F59E0B"/>
                </a:solidFill>
                <a:latin typeface="Calibri" pitchFamily="34" charset="0"/>
                <a:ea typeface="Calibri" pitchFamily="34" charset="-122"/>
                <a:cs typeface="Calibri" pitchFamily="34" charset="-120"/>
              </a:rPr>
              <a:t>Nature Communications, 11, 4518. DOI: 10.1038/s41467-020-18325-8</a:t>
            </a:r>
            <a:endParaRPr lang="en-US" sz="950" dirty="0"/>
          </a:p>
        </p:txBody>
      </p:sp>
      <p:sp>
        <p:nvSpPr>
          <p:cNvPr id="15" name="Text 13"/>
          <p:cNvSpPr/>
          <p:nvPr/>
        </p:nvSpPr>
        <p:spPr>
          <a:xfrm>
            <a:off x="5715000" y="3218688"/>
            <a:ext cx="5394960" cy="594360"/>
          </a:xfrm>
          <a:prstGeom prst="rect">
            <a:avLst/>
          </a:prstGeom>
          <a:noFill/>
          <a:ln/>
        </p:spPr>
        <p:txBody>
          <a:bodyPr wrap="square" rtlCol="0" anchor="ctr"/>
          <a:lstStyle/>
          <a:p>
            <a:pPr indent="0" marL="0">
              <a:lnSpc>
                <a:spcPts val="1300"/>
              </a:lnSpc>
              <a:buNone/>
            </a:pPr>
            <a:r>
              <a:rPr lang="en-US" sz="950" b="1" dirty="0">
                <a:solidFill>
                  <a:srgbClr val="F8FAFC"/>
                </a:solidFill>
                <a:latin typeface="Calibri" pitchFamily="34" charset="0"/>
                <a:ea typeface="Calibri" pitchFamily="34" charset="-122"/>
                <a:cs typeface="Calibri" pitchFamily="34" charset="-120"/>
              </a:rPr>
              <a:t>2. Palmer, C. J., &amp; Clifford, C. W. G. (2020). </a:t>
            </a:r>
            <a:pPr indent="0" marL="0">
              <a:lnSpc>
                <a:spcPts val="1300"/>
              </a:lnSpc>
              <a:buNone/>
            </a:pPr>
            <a:r>
              <a:rPr lang="en-US" sz="950" i="1" dirty="0">
                <a:solidFill>
                  <a:srgbClr val="CBD5E1"/>
                </a:solidFill>
                <a:latin typeface="Calibri" pitchFamily="34" charset="0"/>
                <a:ea typeface="Calibri" pitchFamily="34" charset="-122"/>
                <a:cs typeface="Calibri" pitchFamily="34" charset="-120"/>
              </a:rPr>
              <a:t>"Face Pareidolia Recruits Mechanisms for Detecting Human Social Attention." </a:t>
            </a:r>
            <a:pPr indent="0" marL="0">
              <a:lnSpc>
                <a:spcPts val="1300"/>
              </a:lnSpc>
              <a:buNone/>
            </a:pPr>
            <a:r>
              <a:rPr lang="en-US" sz="850" dirty="0">
                <a:solidFill>
                  <a:srgbClr val="F59E0B"/>
                </a:solidFill>
                <a:latin typeface="Calibri" pitchFamily="34" charset="0"/>
                <a:ea typeface="Calibri" pitchFamily="34" charset="-122"/>
                <a:cs typeface="Calibri" pitchFamily="34" charset="-120"/>
              </a:rPr>
              <a:t>Psychological Science, 31(8), 1001–1012. DOI: 10.1177/0956797620924814</a:t>
            </a:r>
            <a:endParaRPr lang="en-US" sz="950" dirty="0"/>
          </a:p>
        </p:txBody>
      </p:sp>
      <p:sp>
        <p:nvSpPr>
          <p:cNvPr id="16" name="Text 14"/>
          <p:cNvSpPr/>
          <p:nvPr/>
        </p:nvSpPr>
        <p:spPr>
          <a:xfrm>
            <a:off x="5715000" y="3877056"/>
            <a:ext cx="5394960" cy="594360"/>
          </a:xfrm>
          <a:prstGeom prst="rect">
            <a:avLst/>
          </a:prstGeom>
          <a:noFill/>
          <a:ln/>
        </p:spPr>
        <p:txBody>
          <a:bodyPr wrap="square" rtlCol="0" anchor="ctr"/>
          <a:lstStyle/>
          <a:p>
            <a:pPr indent="0" marL="0">
              <a:lnSpc>
                <a:spcPts val="1300"/>
              </a:lnSpc>
              <a:buNone/>
            </a:pPr>
            <a:r>
              <a:rPr lang="en-US" sz="950" b="1" dirty="0">
                <a:solidFill>
                  <a:srgbClr val="F8FAFC"/>
                </a:solidFill>
                <a:latin typeface="Calibri" pitchFamily="34" charset="0"/>
                <a:ea typeface="Calibri" pitchFamily="34" charset="-122"/>
                <a:cs typeface="Calibri" pitchFamily="34" charset="-120"/>
              </a:rPr>
              <a:t>3. Hadjikhani, N., Kveraga, K., Naik, P., &amp; Ahlfors, S. P. (2009). </a:t>
            </a:r>
            <a:pPr indent="0" marL="0">
              <a:lnSpc>
                <a:spcPts val="1300"/>
              </a:lnSpc>
              <a:buNone/>
            </a:pPr>
            <a:r>
              <a:rPr lang="en-US" sz="950" i="1" dirty="0">
                <a:solidFill>
                  <a:srgbClr val="CBD5E1"/>
                </a:solidFill>
                <a:latin typeface="Calibri" pitchFamily="34" charset="0"/>
                <a:ea typeface="Calibri" pitchFamily="34" charset="-122"/>
                <a:cs typeface="Calibri" pitchFamily="34" charset="-120"/>
              </a:rPr>
              <a:t>"Early (M170) activation of face-specific cortex by face-like objects." </a:t>
            </a:r>
            <a:pPr indent="0" marL="0">
              <a:lnSpc>
                <a:spcPts val="1300"/>
              </a:lnSpc>
              <a:buNone/>
            </a:pPr>
            <a:r>
              <a:rPr lang="en-US" sz="850" dirty="0">
                <a:solidFill>
                  <a:srgbClr val="F59E0B"/>
                </a:solidFill>
                <a:latin typeface="Calibri" pitchFamily="34" charset="0"/>
                <a:ea typeface="Calibri" pitchFamily="34" charset="-122"/>
                <a:cs typeface="Calibri" pitchFamily="34" charset="-120"/>
              </a:rPr>
              <a:t>NeuroReport, 20(4), 403–407. DOI: 10.1097/WNR.0b013e328325a8e1</a:t>
            </a:r>
            <a:endParaRPr lang="en-US" sz="950" dirty="0"/>
          </a:p>
        </p:txBody>
      </p:sp>
      <p:sp>
        <p:nvSpPr>
          <p:cNvPr id="17" name="Text 15"/>
          <p:cNvSpPr/>
          <p:nvPr/>
        </p:nvSpPr>
        <p:spPr>
          <a:xfrm>
            <a:off x="5715000" y="4535424"/>
            <a:ext cx="5394960" cy="594360"/>
          </a:xfrm>
          <a:prstGeom prst="rect">
            <a:avLst/>
          </a:prstGeom>
          <a:noFill/>
          <a:ln/>
        </p:spPr>
        <p:txBody>
          <a:bodyPr wrap="square" rtlCol="0" anchor="ctr"/>
          <a:lstStyle/>
          <a:p>
            <a:pPr indent="0" marL="0">
              <a:lnSpc>
                <a:spcPts val="1300"/>
              </a:lnSpc>
              <a:buNone/>
            </a:pPr>
            <a:r>
              <a:rPr lang="en-US" sz="950" b="1" dirty="0">
                <a:solidFill>
                  <a:srgbClr val="F8FAFC"/>
                </a:solidFill>
                <a:latin typeface="Calibri" pitchFamily="34" charset="0"/>
                <a:ea typeface="Calibri" pitchFamily="34" charset="-122"/>
                <a:cs typeface="Calibri" pitchFamily="34" charset="-120"/>
              </a:rPr>
              <a:t>4. Taubert, J., Wardle, S. G., Flessert, M., et al. (2017). </a:t>
            </a:r>
            <a:pPr indent="0" marL="0">
              <a:lnSpc>
                <a:spcPts val="1300"/>
              </a:lnSpc>
              <a:buNone/>
            </a:pPr>
            <a:r>
              <a:rPr lang="en-US" sz="950" i="1" dirty="0">
                <a:solidFill>
                  <a:srgbClr val="CBD5E1"/>
                </a:solidFill>
                <a:latin typeface="Calibri" pitchFamily="34" charset="0"/>
                <a:ea typeface="Calibri" pitchFamily="34" charset="-122"/>
                <a:cs typeface="Calibri" pitchFamily="34" charset="-120"/>
              </a:rPr>
              <a:t>"Face pareidolia in the rhesus monkey." </a:t>
            </a:r>
            <a:pPr indent="0" marL="0">
              <a:lnSpc>
                <a:spcPts val="1300"/>
              </a:lnSpc>
              <a:buNone/>
            </a:pPr>
            <a:r>
              <a:rPr lang="en-US" sz="850" dirty="0">
                <a:solidFill>
                  <a:srgbClr val="F59E0B"/>
                </a:solidFill>
                <a:latin typeface="Calibri" pitchFamily="34" charset="0"/>
                <a:ea typeface="Calibri" pitchFamily="34" charset="-122"/>
                <a:cs typeface="Calibri" pitchFamily="34" charset="-120"/>
              </a:rPr>
              <a:t>Current Biology, 27(16), 2505–2509. DOI: 10.1016/j.cub.2017.06.075</a:t>
            </a:r>
            <a:endParaRPr lang="en-US" sz="950" dirty="0"/>
          </a:p>
        </p:txBody>
      </p:sp>
      <p:sp>
        <p:nvSpPr>
          <p:cNvPr id="18" name="Text 16"/>
          <p:cNvSpPr/>
          <p:nvPr/>
        </p:nvSpPr>
        <p:spPr>
          <a:xfrm>
            <a:off x="5715000" y="5193792"/>
            <a:ext cx="5394960" cy="594360"/>
          </a:xfrm>
          <a:prstGeom prst="rect">
            <a:avLst/>
          </a:prstGeom>
          <a:noFill/>
          <a:ln/>
        </p:spPr>
        <p:txBody>
          <a:bodyPr wrap="square" rtlCol="0" anchor="ctr"/>
          <a:lstStyle/>
          <a:p>
            <a:pPr indent="0" marL="0">
              <a:lnSpc>
                <a:spcPts val="1300"/>
              </a:lnSpc>
              <a:buNone/>
            </a:pPr>
            <a:r>
              <a:rPr lang="en-US" sz="950" b="1" dirty="0">
                <a:solidFill>
                  <a:srgbClr val="F8FAFC"/>
                </a:solidFill>
                <a:latin typeface="Calibri" pitchFamily="34" charset="0"/>
                <a:ea typeface="Calibri" pitchFamily="34" charset="-122"/>
                <a:cs typeface="Calibri" pitchFamily="34" charset="-120"/>
              </a:rPr>
              <a:t>5. Alodokter Medical Team. (2023). </a:t>
            </a:r>
            <a:pPr indent="0" marL="0">
              <a:lnSpc>
                <a:spcPts val="1300"/>
              </a:lnSpc>
              <a:buNone/>
            </a:pPr>
            <a:r>
              <a:rPr lang="en-US" sz="950" i="1" dirty="0">
                <a:solidFill>
                  <a:srgbClr val="CBD5E1"/>
                </a:solidFill>
                <a:latin typeface="Calibri" pitchFamily="34" charset="0"/>
                <a:ea typeface="Calibri" pitchFamily="34" charset="-122"/>
                <a:cs typeface="Calibri" pitchFamily="34" charset="-120"/>
              </a:rPr>
              <a:t>"Fenomena Pareidolia, Melihat Wajah atau Sosok pada Benda Mati." </a:t>
            </a:r>
            <a:pPr indent="0" marL="0">
              <a:lnSpc>
                <a:spcPts val="1300"/>
              </a:lnSpc>
              <a:buNone/>
            </a:pPr>
            <a:r>
              <a:rPr lang="en-US" sz="850" dirty="0">
                <a:solidFill>
                  <a:srgbClr val="F59E0B"/>
                </a:solidFill>
                <a:latin typeface="Calibri" pitchFamily="34" charset="0"/>
                <a:ea typeface="Calibri" pitchFamily="34" charset="-122"/>
                <a:cs typeface="Calibri" pitchFamily="34" charset="-120"/>
              </a:rPr>
              <a:t>Kementerian Kesehatan RI &amp; Alodokter Media Network.</a:t>
            </a:r>
            <a:endParaRPr lang="en-US" sz="950" dirty="0"/>
          </a:p>
        </p:txBody>
      </p:sp>
      <p:sp>
        <p:nvSpPr>
          <p:cNvPr id="19" name="Shape 17"/>
          <p:cNvSpPr/>
          <p:nvPr/>
        </p:nvSpPr>
        <p:spPr>
          <a:xfrm>
            <a:off x="822960" y="6400800"/>
            <a:ext cx="10545775" cy="0"/>
          </a:xfrm>
          <a:prstGeom prst="line">
            <a:avLst/>
          </a:prstGeom>
          <a:noFill/>
          <a:ln w="12700">
            <a:solidFill>
              <a:srgbClr val="334155"/>
            </a:solidFill>
            <a:prstDash val="solid"/>
          </a:ln>
        </p:spPr>
      </p:sp>
      <p:sp>
        <p:nvSpPr>
          <p:cNvPr id="20" name="Text 18"/>
          <p:cNvSpPr/>
          <p:nvPr/>
        </p:nvSpPr>
        <p:spPr>
          <a:xfrm>
            <a:off x="822960" y="6446520"/>
            <a:ext cx="8229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Fenomena Pareidolia • Tugas Presentasi Kelompok Kelas IX E • [Nama Sekolah]</a:t>
            </a:r>
            <a:endParaRPr lang="en-US" sz="900" dirty="0"/>
          </a:p>
        </p:txBody>
      </p:sp>
      <p:sp>
        <p:nvSpPr>
          <p:cNvPr id="21" name="Text 19"/>
          <p:cNvSpPr/>
          <p:nvPr/>
        </p:nvSpPr>
        <p:spPr>
          <a:xfrm>
            <a:off x="9601200" y="6446520"/>
            <a:ext cx="1767535"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Slide 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2026-10-27T12:48:00Z</dcterms:created>
  <dcterms:modified xsi:type="dcterms:W3CDTF">2026-10-27T12:48:00Z</dcterms:modified>
</cp:coreProperties>
</file>